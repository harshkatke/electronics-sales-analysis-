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5.xml" ContentType="application/vnd.openxmlformats-officedocument.presentationml.notesSlide+xml"/>
  <Override PartName="/ppt/charts/chart4.xml" ContentType="application/vnd.openxmlformats-officedocument.drawingml.chart+xml"/>
  <Override PartName="/ppt/notesSlides/notesSlide6.xml" ContentType="application/vnd.openxmlformats-officedocument.presentationml.notesSlide+xml"/>
  <Override PartName="/ppt/charts/chart5.xml" ContentType="application/vnd.openxmlformats-officedocument.drawingml.chart+xml"/>
  <Override PartName="/ppt/notesSlides/notesSlide7.xml" ContentType="application/vnd.openxmlformats-officedocument.presentationml.notesSlide+xml"/>
  <Override PartName="/ppt/charts/chart6.xml" ContentType="application/vnd.openxmlformats-officedocument.drawingml.chart+xml"/>
  <Override PartName="/ppt/notesSlides/notesSlide8.xml" ContentType="application/vnd.openxmlformats-officedocument.presentationml.notesSlide+xml"/>
  <Override PartName="/ppt/charts/chart7.xml" ContentType="application/vnd.openxmlformats-officedocument.drawingml.chart+xml"/>
  <Override PartName="/ppt/notesSlides/notesSlide9.xml" ContentType="application/vnd.openxmlformats-officedocument.presentationml.notesSlide+xml"/>
  <Override PartName="/ppt/charts/chart8.xml" ContentType="application/vnd.openxmlformats-officedocument.drawingml.chart+xml"/>
  <Override PartName="/ppt/notesSlides/notesSlide10.xml" ContentType="application/vnd.openxmlformats-officedocument.presentationml.notesSlide+xml"/>
  <Override PartName="/ppt/charts/chart9.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3" r:id="rId1"/>
  </p:sldMasterIdLst>
  <p:notesMasterIdLst>
    <p:notesMasterId r:id="rId16"/>
  </p:notesMasterIdLst>
  <p:sldIdLst>
    <p:sldId id="256" r:id="rId2"/>
    <p:sldId id="257" r:id="rId3"/>
    <p:sldId id="272" r:id="rId4"/>
    <p:sldId id="259" r:id="rId5"/>
    <p:sldId id="260" r:id="rId6"/>
    <p:sldId id="261" r:id="rId7"/>
    <p:sldId id="262" r:id="rId8"/>
    <p:sldId id="263" r:id="rId9"/>
    <p:sldId id="265" r:id="rId10"/>
    <p:sldId id="266" r:id="rId11"/>
    <p:sldId id="267" r:id="rId12"/>
    <p:sldId id="268" r:id="rId13"/>
    <p:sldId id="270" r:id="rId14"/>
    <p:sldId id="271" r:id="rId15"/>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2" d="100"/>
          <a:sy n="102" d="100"/>
        </p:scale>
        <p:origin x="48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lineChart>
        <c:grouping val="standard"/>
        <c:varyColors val="0"/>
        <c:ser>
          <c:idx val="0"/>
          <c:order val="0"/>
          <c:tx>
            <c:strRef>
              <c:f>Sheet1!$B$1</c:f>
              <c:strCache>
                <c:ptCount val="1"/>
                <c:pt idx="0">
                  <c:v>Revenue ($)</c:v>
                </c:pt>
              </c:strCache>
            </c:strRef>
          </c:tx>
          <c:spPr>
            <a:ln w="31750" cap="flat">
              <a:solidFill>
                <a:srgbClr val="00C2CB"/>
              </a:solidFill>
              <a:prstDash val="solid"/>
              <a:round/>
            </a:ln>
            <a:effectLst/>
          </c:spPr>
          <c:marker>
            <c:symbol val="circle"/>
            <c:size val="6"/>
            <c:spPr>
              <a:solidFill>
                <a:srgbClr val="00C2CB"/>
              </a:solidFill>
              <a:ln w="9525" cap="flat">
                <a:solidFill>
                  <a:srgbClr val="00C2CB"/>
                </a:solidFill>
                <a:prstDash val="solid"/>
                <a:round/>
              </a:ln>
              <a:effectLst/>
            </c:spPr>
          </c:marker>
          <c:cat>
            <c:strRef>
              <c:f>Sheet1!$A$2:$A$14</c:f>
              <c:strCache>
                <c:ptCount val="13"/>
                <c:pt idx="0">
                  <c:v>Sep'23</c:v>
                </c:pt>
                <c:pt idx="1">
                  <c:v>Oct'23</c:v>
                </c:pt>
                <c:pt idx="2">
                  <c:v>Nov'23</c:v>
                </c:pt>
                <c:pt idx="3">
                  <c:v>Dec'23</c:v>
                </c:pt>
                <c:pt idx="4">
                  <c:v>Jan'24</c:v>
                </c:pt>
                <c:pt idx="5">
                  <c:v>Feb'24</c:v>
                </c:pt>
                <c:pt idx="6">
                  <c:v>Mar'24</c:v>
                </c:pt>
                <c:pt idx="7">
                  <c:v>Apr'24</c:v>
                </c:pt>
                <c:pt idx="8">
                  <c:v>May'24</c:v>
                </c:pt>
                <c:pt idx="9">
                  <c:v>Jun'24</c:v>
                </c:pt>
                <c:pt idx="10">
                  <c:v>Jul'24</c:v>
                </c:pt>
                <c:pt idx="11">
                  <c:v>Aug'24</c:v>
                </c:pt>
                <c:pt idx="12">
                  <c:v>Sep'24</c:v>
                </c:pt>
              </c:strCache>
            </c:strRef>
          </c:cat>
          <c:val>
            <c:numRef>
              <c:f>Sheet1!$B$2:$B$14</c:f>
              <c:numCache>
                <c:formatCode>General</c:formatCode>
                <c:ptCount val="13"/>
                <c:pt idx="0">
                  <c:v>481962</c:v>
                </c:pt>
                <c:pt idx="1">
                  <c:v>2318466</c:v>
                </c:pt>
                <c:pt idx="2">
                  <c:v>2068434</c:v>
                </c:pt>
                <c:pt idx="3">
                  <c:v>1980700</c:v>
                </c:pt>
                <c:pt idx="4">
                  <c:v>6620172</c:v>
                </c:pt>
                <c:pt idx="5">
                  <c:v>5733696</c:v>
                </c:pt>
                <c:pt idx="6">
                  <c:v>6324368</c:v>
                </c:pt>
                <c:pt idx="7">
                  <c:v>6418254</c:v>
                </c:pt>
                <c:pt idx="8">
                  <c:v>6709043</c:v>
                </c:pt>
                <c:pt idx="9">
                  <c:v>6668634</c:v>
                </c:pt>
                <c:pt idx="10">
                  <c:v>6535130</c:v>
                </c:pt>
                <c:pt idx="11">
                  <c:v>6706119</c:v>
                </c:pt>
                <c:pt idx="12">
                  <c:v>5037691</c:v>
                </c:pt>
              </c:numCache>
            </c:numRef>
          </c:val>
          <c:smooth val="1"/>
          <c:extLst>
            <c:ext xmlns:c16="http://schemas.microsoft.com/office/drawing/2014/chart" uri="{C3380CC4-5D6E-409C-BE32-E72D297353CC}">
              <c16:uniqueId val="{00000000-7951-4DCA-B33C-B04375A7005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1E355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3203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F0F4FF"/>
                </a:solidFill>
                <a:latin typeface="Arial"/>
              </a:defRPr>
            </a:pPr>
            <a:r>
              <a:rPr lang="en-IN" sz="1200" b="0" i="0" u="none" strike="noStrike">
                <a:solidFill>
                  <a:srgbClr val="F0F4FF"/>
                </a:solidFill>
                <a:latin typeface="Arial"/>
              </a:rPr>
              <a:t>Revenue Split</a:t>
            </a:r>
          </a:p>
        </c:rich>
      </c:tx>
      <c:overlay val="0"/>
    </c:title>
    <c:autoTitleDeleted val="0"/>
    <c:plotArea>
      <c:layout/>
      <c:doughnutChart>
        <c:varyColors val="1"/>
        <c:ser>
          <c:idx val="0"/>
          <c:order val="0"/>
          <c:tx>
            <c:strRef>
              <c:f>Sheet1!$B$1</c:f>
              <c:strCache>
                <c:ptCount val="1"/>
                <c:pt idx="0">
                  <c:v>Revenue</c:v>
                </c:pt>
              </c:strCache>
            </c:strRef>
          </c:tx>
          <c:spPr>
            <a:solidFill>
              <a:schemeClr val="accent1"/>
            </a:solidFill>
            <a:ln w="9525" cap="flat">
              <a:solidFill>
                <a:srgbClr val="F9F9F9"/>
              </a:solidFill>
              <a:prstDash val="solid"/>
              <a:round/>
            </a:ln>
            <a:effectLst/>
          </c:spPr>
          <c:dPt>
            <c:idx val="0"/>
            <c:bubble3D val="0"/>
            <c:spPr>
              <a:solidFill>
                <a:srgbClr val="00C2CB"/>
              </a:solidFill>
              <a:effectLst/>
            </c:spPr>
            <c:extLst>
              <c:ext xmlns:c16="http://schemas.microsoft.com/office/drawing/2014/chart" uri="{C3380CC4-5D6E-409C-BE32-E72D297353CC}">
                <c16:uniqueId val="{00000001-137B-4627-A940-EA707C7B4661}"/>
              </c:ext>
            </c:extLst>
          </c:dPt>
          <c:dPt>
            <c:idx val="1"/>
            <c:bubble3D val="0"/>
            <c:spPr>
              <a:solidFill>
                <a:srgbClr val="1D6FA4"/>
              </a:solidFill>
              <a:effectLst/>
            </c:spPr>
            <c:extLst>
              <c:ext xmlns:c16="http://schemas.microsoft.com/office/drawing/2014/chart" uri="{C3380CC4-5D6E-409C-BE32-E72D297353CC}">
                <c16:uniqueId val="{00000003-137B-4627-A940-EA707C7B4661}"/>
              </c:ext>
            </c:extLst>
          </c:dPt>
          <c:dPt>
            <c:idx val="2"/>
            <c:bubble3D val="0"/>
            <c:spPr>
              <a:solidFill>
                <a:srgbClr val="2ECC97"/>
              </a:solidFill>
              <a:effectLst/>
            </c:spPr>
            <c:extLst>
              <c:ext xmlns:c16="http://schemas.microsoft.com/office/drawing/2014/chart" uri="{C3380CC4-5D6E-409C-BE32-E72D297353CC}">
                <c16:uniqueId val="{00000005-137B-4627-A940-EA707C7B4661}"/>
              </c:ext>
            </c:extLst>
          </c:dPt>
          <c:dPt>
            <c:idx val="3"/>
            <c:bubble3D val="0"/>
            <c:spPr>
              <a:solidFill>
                <a:srgbClr val="F5A623"/>
              </a:solidFill>
              <a:effectLst/>
            </c:spPr>
            <c:extLst>
              <c:ext xmlns:c16="http://schemas.microsoft.com/office/drawing/2014/chart" uri="{C3380CC4-5D6E-409C-BE32-E72D297353CC}">
                <c16:uniqueId val="{00000007-137B-4627-A940-EA707C7B4661}"/>
              </c:ext>
            </c:extLst>
          </c:dPt>
          <c:dPt>
            <c:idx val="4"/>
            <c:bubble3D val="0"/>
            <c:spPr>
              <a:solidFill>
                <a:srgbClr val="E05757"/>
              </a:solidFill>
              <a:effectLst/>
            </c:spPr>
            <c:extLst>
              <c:ext xmlns:c16="http://schemas.microsoft.com/office/drawing/2014/chart" uri="{C3380CC4-5D6E-409C-BE32-E72D297353CC}">
                <c16:uniqueId val="{00000009-137B-4627-A940-EA707C7B4661}"/>
              </c:ext>
            </c:extLst>
          </c:dPt>
          <c:dLbls>
            <c:dLbl>
              <c:idx val="0"/>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137B-4627-A940-EA707C7B4661}"/>
                </c:ext>
              </c:extLst>
            </c:dLbl>
            <c:dLbl>
              <c:idx val="1"/>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137B-4627-A940-EA707C7B4661}"/>
                </c:ext>
              </c:extLst>
            </c:dLbl>
            <c:dLbl>
              <c:idx val="2"/>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137B-4627-A940-EA707C7B4661}"/>
                </c:ext>
              </c:extLst>
            </c:dLbl>
            <c:dLbl>
              <c:idx val="3"/>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137B-4627-A940-EA707C7B4661}"/>
                </c:ext>
              </c:extLst>
            </c:dLbl>
            <c:dLbl>
              <c:idx val="4"/>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137B-4627-A940-EA707C7B4661}"/>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Sheet1!$A$2:$A$6</c:f>
              <c:strCache>
                <c:ptCount val="5"/>
                <c:pt idx="0">
                  <c:v>Smartphone</c:v>
                </c:pt>
                <c:pt idx="1">
                  <c:v>Smartwatch</c:v>
                </c:pt>
                <c:pt idx="2">
                  <c:v>Laptop</c:v>
                </c:pt>
                <c:pt idx="3">
                  <c:v>Tablet</c:v>
                </c:pt>
                <c:pt idx="4">
                  <c:v>Headphones</c:v>
                </c:pt>
              </c:strCache>
            </c:strRef>
          </c:cat>
          <c:val>
            <c:numRef>
              <c:f>Sheet1!$B$2:$B$6</c:f>
              <c:numCache>
                <c:formatCode>General</c:formatCode>
                <c:ptCount val="5"/>
                <c:pt idx="0">
                  <c:v>21516755</c:v>
                </c:pt>
                <c:pt idx="1">
                  <c:v>14036273</c:v>
                </c:pt>
                <c:pt idx="2">
                  <c:v>12296240</c:v>
                </c:pt>
                <c:pt idx="3">
                  <c:v>11712000</c:v>
                </c:pt>
                <c:pt idx="4">
                  <c:v>4041400</c:v>
                </c:pt>
              </c:numCache>
            </c:numRef>
          </c:val>
          <c:extLst>
            <c:ext xmlns:c16="http://schemas.microsoft.com/office/drawing/2014/chart" uri="{C3380CC4-5D6E-409C-BE32-E72D297353CC}">
              <c16:uniqueId val="{0000000A-137B-4627-A940-EA707C7B4661}"/>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900">
              <a:solidFill>
                <a:srgbClr val="8B9AB5"/>
              </a:solidFill>
            </a:defRPr>
          </a:pPr>
          <a:endParaRPr lang="en-US"/>
        </a:p>
      </c:txPr>
    </c:legend>
    <c:plotVisOnly val="1"/>
    <c:dispBlanksAs val="span"/>
    <c:showDLblsOverMax val="1"/>
  </c:chart>
  <c:spPr>
    <a:solidFill>
      <a:srgbClr val="0B1120"/>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200" b="0" i="0" u="none" strike="noStrike">
                <a:solidFill>
                  <a:srgbClr val="F0F4FF"/>
                </a:solidFill>
                <a:latin typeface="Arial"/>
              </a:defRPr>
            </a:pPr>
            <a:r>
              <a:rPr lang="en-IN" sz="1200" b="0" i="0" u="none" strike="noStrike">
                <a:solidFill>
                  <a:srgbClr val="F0F4FF"/>
                </a:solidFill>
                <a:latin typeface="Arial"/>
              </a:rPr>
              <a:t>Order Count by Product</a:t>
            </a:r>
          </a:p>
        </c:rich>
      </c:tx>
      <c:overlay val="0"/>
    </c:title>
    <c:autoTitleDeleted val="0"/>
    <c:plotArea>
      <c:layout/>
      <c:barChart>
        <c:barDir val="bar"/>
        <c:grouping val="clustered"/>
        <c:varyColors val="0"/>
        <c:ser>
          <c:idx val="0"/>
          <c:order val="0"/>
          <c:tx>
            <c:strRef>
              <c:f>Sheet1!$B$1</c:f>
              <c:strCache>
                <c:ptCount val="1"/>
                <c:pt idx="0">
                  <c:v>Orders</c:v>
                </c:pt>
              </c:strCache>
            </c:strRef>
          </c:tx>
          <c:spPr>
            <a:solidFill>
              <a:srgbClr val="00C2CB"/>
            </a:solidFill>
            <a:effectLst/>
          </c:spPr>
          <c:invertIfNegative val="0"/>
          <c:dPt>
            <c:idx val="0"/>
            <c:invertIfNegative val="0"/>
            <c:bubble3D val="0"/>
            <c:extLst>
              <c:ext xmlns:c16="http://schemas.microsoft.com/office/drawing/2014/chart" uri="{C3380CC4-5D6E-409C-BE32-E72D297353CC}">
                <c16:uniqueId val="{00000001-54F3-4C9B-BB57-FE51D6A59721}"/>
              </c:ext>
            </c:extLst>
          </c:dPt>
          <c:dPt>
            <c:idx val="1"/>
            <c:invertIfNegative val="0"/>
            <c:bubble3D val="0"/>
            <c:spPr>
              <a:solidFill>
                <a:srgbClr val="1D6FA4"/>
              </a:solidFill>
              <a:effectLst/>
            </c:spPr>
            <c:extLst>
              <c:ext xmlns:c16="http://schemas.microsoft.com/office/drawing/2014/chart" uri="{C3380CC4-5D6E-409C-BE32-E72D297353CC}">
                <c16:uniqueId val="{00000003-54F3-4C9B-BB57-FE51D6A59721}"/>
              </c:ext>
            </c:extLst>
          </c:dPt>
          <c:dPt>
            <c:idx val="2"/>
            <c:invertIfNegative val="0"/>
            <c:bubble3D val="0"/>
            <c:spPr>
              <a:solidFill>
                <a:srgbClr val="2ECC97"/>
              </a:solidFill>
              <a:effectLst/>
            </c:spPr>
            <c:extLst>
              <c:ext xmlns:c16="http://schemas.microsoft.com/office/drawing/2014/chart" uri="{C3380CC4-5D6E-409C-BE32-E72D297353CC}">
                <c16:uniqueId val="{00000005-54F3-4C9B-BB57-FE51D6A59721}"/>
              </c:ext>
            </c:extLst>
          </c:dPt>
          <c:dPt>
            <c:idx val="3"/>
            <c:invertIfNegative val="0"/>
            <c:bubble3D val="0"/>
            <c:spPr>
              <a:solidFill>
                <a:srgbClr val="F5A623"/>
              </a:solidFill>
              <a:effectLst/>
            </c:spPr>
            <c:extLst>
              <c:ext xmlns:c16="http://schemas.microsoft.com/office/drawing/2014/chart" uri="{C3380CC4-5D6E-409C-BE32-E72D297353CC}">
                <c16:uniqueId val="{00000007-54F3-4C9B-BB57-FE51D6A59721}"/>
              </c:ext>
            </c:extLst>
          </c:dPt>
          <c:dPt>
            <c:idx val="4"/>
            <c:invertIfNegative val="0"/>
            <c:bubble3D val="0"/>
            <c:spPr>
              <a:solidFill>
                <a:srgbClr val="E05757"/>
              </a:solidFill>
              <a:effectLst/>
            </c:spPr>
            <c:extLst>
              <c:ext xmlns:c16="http://schemas.microsoft.com/office/drawing/2014/chart" uri="{C3380CC4-5D6E-409C-BE32-E72D297353CC}">
                <c16:uniqueId val="{00000009-54F3-4C9B-BB57-FE51D6A59721}"/>
              </c:ext>
            </c:extLst>
          </c:dPt>
          <c:dLbls>
            <c:numFmt formatCode="#,##0" sourceLinked="0"/>
            <c:spPr>
              <a:noFill/>
              <a:ln>
                <a:noFill/>
              </a:ln>
              <a:effectLst/>
            </c:spPr>
            <c:txPr>
              <a:bodyPr/>
              <a:lstStyle/>
              <a:p>
                <a:pPr>
                  <a:defRPr sz="900" b="0" i="0" u="none" strike="noStrike">
                    <a:solidFill>
                      <a:srgbClr val="F0F4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Smartphone</c:v>
                </c:pt>
                <c:pt idx="1">
                  <c:v>Tablet</c:v>
                </c:pt>
                <c:pt idx="2">
                  <c:v>Laptop</c:v>
                </c:pt>
                <c:pt idx="3">
                  <c:v>Smartwatch</c:v>
                </c:pt>
                <c:pt idx="4">
                  <c:v>Headphones</c:v>
                </c:pt>
              </c:strCache>
            </c:strRef>
          </c:cat>
          <c:val>
            <c:numRef>
              <c:f>Sheet1!$B$2:$B$6</c:f>
              <c:numCache>
                <c:formatCode>General</c:formatCode>
                <c:ptCount val="5"/>
                <c:pt idx="0">
                  <c:v>5978</c:v>
                </c:pt>
                <c:pt idx="1">
                  <c:v>4104</c:v>
                </c:pt>
                <c:pt idx="2">
                  <c:v>3973</c:v>
                </c:pt>
                <c:pt idx="3">
                  <c:v>3934</c:v>
                </c:pt>
                <c:pt idx="4">
                  <c:v>2011</c:v>
                </c:pt>
              </c:numCache>
            </c:numRef>
          </c:val>
          <c:extLst>
            <c:ext xmlns:c16="http://schemas.microsoft.com/office/drawing/2014/chart" uri="{C3380CC4-5D6E-409C-BE32-E72D297353CC}">
              <c16:uniqueId val="{0000000A-54F3-4C9B-BB57-FE51D6A5972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E355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32038"/>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F0F4FF"/>
                </a:solidFill>
                <a:latin typeface="Arial"/>
              </a:defRPr>
            </a:pPr>
            <a:r>
              <a:rPr lang="en-IN" sz="1200" b="0" i="0" u="none" strike="noStrike">
                <a:solidFill>
                  <a:srgbClr val="F0F4FF"/>
                </a:solidFill>
                <a:latin typeface="Arial"/>
              </a:rPr>
              <a:t>Gender Distribution</a:t>
            </a:r>
          </a:p>
        </c:rich>
      </c:tx>
      <c:overlay val="0"/>
    </c:title>
    <c:autoTitleDeleted val="0"/>
    <c:plotArea>
      <c:layout/>
      <c:pieChart>
        <c:varyColors val="1"/>
        <c:ser>
          <c:idx val="0"/>
          <c:order val="0"/>
          <c:tx>
            <c:strRef>
              <c:f>Sheet1!$B$1</c:f>
              <c:strCache>
                <c:ptCount val="1"/>
                <c:pt idx="0">
                  <c:v>Customers</c:v>
                </c:pt>
              </c:strCache>
            </c:strRef>
          </c:tx>
          <c:spPr>
            <a:solidFill>
              <a:schemeClr val="accent1"/>
            </a:solidFill>
            <a:ln w="9525" cap="flat">
              <a:solidFill>
                <a:srgbClr val="F9F9F9"/>
              </a:solidFill>
              <a:prstDash val="solid"/>
              <a:round/>
            </a:ln>
            <a:effectLst/>
          </c:spPr>
          <c:dPt>
            <c:idx val="0"/>
            <c:bubble3D val="0"/>
            <c:spPr>
              <a:solidFill>
                <a:srgbClr val="1D6FA4"/>
              </a:solidFill>
              <a:effectLst/>
            </c:spPr>
            <c:extLst>
              <c:ext xmlns:c16="http://schemas.microsoft.com/office/drawing/2014/chart" uri="{C3380CC4-5D6E-409C-BE32-E72D297353CC}">
                <c16:uniqueId val="{00000001-231B-41DE-80EC-047910DAEEC1}"/>
              </c:ext>
            </c:extLst>
          </c:dPt>
          <c:dPt>
            <c:idx val="1"/>
            <c:bubble3D val="0"/>
            <c:spPr>
              <a:solidFill>
                <a:srgbClr val="00C2CB"/>
              </a:solidFill>
              <a:effectLst/>
            </c:spPr>
            <c:extLst>
              <c:ext xmlns:c16="http://schemas.microsoft.com/office/drawing/2014/chart" uri="{C3380CC4-5D6E-409C-BE32-E72D297353CC}">
                <c16:uniqueId val="{00000003-231B-41DE-80EC-047910DAEEC1}"/>
              </c:ext>
            </c:extLst>
          </c:dPt>
          <c:dLbls>
            <c:dLbl>
              <c:idx val="0"/>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231B-41DE-80EC-047910DAEEC1}"/>
                </c:ext>
              </c:extLst>
            </c:dLbl>
            <c:dLbl>
              <c:idx val="1"/>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231B-41DE-80EC-047910DAEEC1}"/>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Male (50.8%)</c:v>
                </c:pt>
                <c:pt idx="1">
                  <c:v>Female (49.2%)</c:v>
                </c:pt>
              </c:strCache>
            </c:strRef>
          </c:cat>
          <c:val>
            <c:numRef>
              <c:f>Sheet1!$B$2:$B$3</c:f>
              <c:numCache>
                <c:formatCode>General</c:formatCode>
                <c:ptCount val="2"/>
                <c:pt idx="0">
                  <c:v>10164</c:v>
                </c:pt>
                <c:pt idx="1">
                  <c:v>9835</c:v>
                </c:pt>
              </c:numCache>
            </c:numRef>
          </c:val>
          <c:extLst>
            <c:ext xmlns:c16="http://schemas.microsoft.com/office/drawing/2014/chart" uri="{C3380CC4-5D6E-409C-BE32-E72D297353CC}">
              <c16:uniqueId val="{00000004-231B-41DE-80EC-047910DAEEC1}"/>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txPr>
        <a:bodyPr/>
        <a:lstStyle/>
        <a:p>
          <a:pPr>
            <a:defRPr sz="1000">
              <a:solidFill>
                <a:srgbClr val="8B9AB5"/>
              </a:solidFill>
            </a:defRPr>
          </a:pPr>
          <a:endParaRPr lang="en-US"/>
        </a:p>
      </c:txPr>
    </c:legend>
    <c:plotVisOnly val="1"/>
    <c:dispBlanksAs val="span"/>
    <c:showDLblsOverMax val="1"/>
  </c:chart>
  <c:spPr>
    <a:solidFill>
      <a:srgbClr val="0B1120"/>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200" b="0" i="0" u="none" strike="noStrike">
                <a:solidFill>
                  <a:srgbClr val="F0F4FF"/>
                </a:solidFill>
                <a:latin typeface="Arial"/>
              </a:defRPr>
            </a:pPr>
            <a:r>
              <a:rPr lang="en-IN" sz="1200" b="0" i="0" u="none" strike="noStrike">
                <a:solidFill>
                  <a:srgbClr val="F0F4FF"/>
                </a:solidFill>
                <a:latin typeface="Arial"/>
              </a:rPr>
              <a:t>Orders by Payment Method</a:t>
            </a:r>
          </a:p>
        </c:rich>
      </c:tx>
      <c:overlay val="0"/>
    </c:title>
    <c:autoTitleDeleted val="0"/>
    <c:plotArea>
      <c:layout/>
      <c:barChart>
        <c:barDir val="col"/>
        <c:grouping val="clustered"/>
        <c:varyColors val="0"/>
        <c:ser>
          <c:idx val="0"/>
          <c:order val="0"/>
          <c:tx>
            <c:strRef>
              <c:f>Sheet1!$B$1</c:f>
              <c:strCache>
                <c:ptCount val="1"/>
                <c:pt idx="0">
                  <c:v>Orders</c:v>
                </c:pt>
              </c:strCache>
            </c:strRef>
          </c:tx>
          <c:spPr>
            <a:solidFill>
              <a:srgbClr val="00C2CB"/>
            </a:solidFill>
            <a:effectLst/>
          </c:spPr>
          <c:invertIfNegative val="0"/>
          <c:dPt>
            <c:idx val="0"/>
            <c:invertIfNegative val="0"/>
            <c:bubble3D val="0"/>
            <c:extLst>
              <c:ext xmlns:c16="http://schemas.microsoft.com/office/drawing/2014/chart" uri="{C3380CC4-5D6E-409C-BE32-E72D297353CC}">
                <c16:uniqueId val="{00000001-E45D-4F52-BB5A-1ED981FCA341}"/>
              </c:ext>
            </c:extLst>
          </c:dPt>
          <c:dPt>
            <c:idx val="1"/>
            <c:invertIfNegative val="0"/>
            <c:bubble3D val="0"/>
            <c:spPr>
              <a:solidFill>
                <a:srgbClr val="1D6FA4"/>
              </a:solidFill>
              <a:effectLst/>
            </c:spPr>
            <c:extLst>
              <c:ext xmlns:c16="http://schemas.microsoft.com/office/drawing/2014/chart" uri="{C3380CC4-5D6E-409C-BE32-E72D297353CC}">
                <c16:uniqueId val="{00000003-E45D-4F52-BB5A-1ED981FCA341}"/>
              </c:ext>
            </c:extLst>
          </c:dPt>
          <c:dPt>
            <c:idx val="2"/>
            <c:invertIfNegative val="0"/>
            <c:bubble3D val="0"/>
            <c:spPr>
              <a:solidFill>
                <a:srgbClr val="2ECC97"/>
              </a:solidFill>
              <a:effectLst/>
            </c:spPr>
            <c:extLst>
              <c:ext xmlns:c16="http://schemas.microsoft.com/office/drawing/2014/chart" uri="{C3380CC4-5D6E-409C-BE32-E72D297353CC}">
                <c16:uniqueId val="{00000005-E45D-4F52-BB5A-1ED981FCA341}"/>
              </c:ext>
            </c:extLst>
          </c:dPt>
          <c:dPt>
            <c:idx val="3"/>
            <c:invertIfNegative val="0"/>
            <c:bubble3D val="0"/>
            <c:spPr>
              <a:solidFill>
                <a:srgbClr val="F5A623"/>
              </a:solidFill>
              <a:effectLst/>
            </c:spPr>
            <c:extLst>
              <c:ext xmlns:c16="http://schemas.microsoft.com/office/drawing/2014/chart" uri="{C3380CC4-5D6E-409C-BE32-E72D297353CC}">
                <c16:uniqueId val="{00000007-E45D-4F52-BB5A-1ED981FCA341}"/>
              </c:ext>
            </c:extLst>
          </c:dPt>
          <c:dPt>
            <c:idx val="4"/>
            <c:invertIfNegative val="0"/>
            <c:bubble3D val="0"/>
            <c:spPr>
              <a:solidFill>
                <a:srgbClr val="E05757"/>
              </a:solidFill>
              <a:effectLst/>
            </c:spPr>
            <c:extLst>
              <c:ext xmlns:c16="http://schemas.microsoft.com/office/drawing/2014/chart" uri="{C3380CC4-5D6E-409C-BE32-E72D297353CC}">
                <c16:uniqueId val="{00000009-E45D-4F52-BB5A-1ED981FCA341}"/>
              </c:ext>
            </c:extLst>
          </c:dPt>
          <c:dLbls>
            <c:numFmt formatCode="#,##0" sourceLinked="0"/>
            <c:spPr>
              <a:noFill/>
              <a:ln>
                <a:noFill/>
              </a:ln>
              <a:effectLst/>
            </c:spPr>
            <c:txPr>
              <a:bodyPr/>
              <a:lstStyle/>
              <a:p>
                <a:pPr>
                  <a:defRPr sz="1000" b="0" i="0" u="none" strike="noStrike">
                    <a:solidFill>
                      <a:srgbClr val="F0F4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Credit Card</c:v>
                </c:pt>
                <c:pt idx="1">
                  <c:v>PayPal</c:v>
                </c:pt>
                <c:pt idx="2">
                  <c:v>Bank Transfer</c:v>
                </c:pt>
                <c:pt idx="3">
                  <c:v>Cash</c:v>
                </c:pt>
                <c:pt idx="4">
                  <c:v>Debit Card</c:v>
                </c:pt>
              </c:strCache>
            </c:strRef>
          </c:cat>
          <c:val>
            <c:numRef>
              <c:f>Sheet1!$B$2:$B$6</c:f>
              <c:numCache>
                <c:formatCode>General</c:formatCode>
                <c:ptCount val="5"/>
                <c:pt idx="0">
                  <c:v>8382</c:v>
                </c:pt>
                <c:pt idx="1">
                  <c:v>5798</c:v>
                </c:pt>
                <c:pt idx="2">
                  <c:v>3371</c:v>
                </c:pt>
                <c:pt idx="3">
                  <c:v>2492</c:v>
                </c:pt>
                <c:pt idx="4">
                  <c:v>2471</c:v>
                </c:pt>
              </c:numCache>
            </c:numRef>
          </c:val>
          <c:extLst>
            <c:ext xmlns:c16="http://schemas.microsoft.com/office/drawing/2014/chart" uri="{C3380CC4-5D6E-409C-BE32-E72D297353CC}">
              <c16:uniqueId val="{0000000A-E45D-4F52-BB5A-1ED981FCA34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1E355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32038"/>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00" b="0" i="0" u="none" strike="noStrike">
                <a:solidFill>
                  <a:srgbClr val="F0F4FF"/>
                </a:solidFill>
                <a:latin typeface="Arial"/>
              </a:defRPr>
            </a:pPr>
            <a:r>
              <a:rPr lang="en-IN" sz="1200" b="0" i="0" u="none" strike="noStrike">
                <a:solidFill>
                  <a:srgbClr val="F0F4FF"/>
                </a:solidFill>
                <a:latin typeface="Arial"/>
              </a:rPr>
              <a:t>Shipping Type Distribution</a:t>
            </a:r>
          </a:p>
        </c:rich>
      </c:tx>
      <c:overlay val="0"/>
    </c:title>
    <c:autoTitleDeleted val="0"/>
    <c:plotArea>
      <c:layout/>
      <c:doughnutChart>
        <c:varyColors val="1"/>
        <c:ser>
          <c:idx val="0"/>
          <c:order val="0"/>
          <c:tx>
            <c:strRef>
              <c:f>Sheet1!$B$1</c:f>
              <c:strCache>
                <c:ptCount val="1"/>
                <c:pt idx="0">
                  <c:v>Shipping</c:v>
                </c:pt>
              </c:strCache>
            </c:strRef>
          </c:tx>
          <c:spPr>
            <a:solidFill>
              <a:schemeClr val="accent1"/>
            </a:solidFill>
            <a:ln w="9525" cap="flat">
              <a:solidFill>
                <a:srgbClr val="F9F9F9"/>
              </a:solidFill>
              <a:prstDash val="solid"/>
              <a:round/>
            </a:ln>
            <a:effectLst/>
          </c:spPr>
          <c:dPt>
            <c:idx val="0"/>
            <c:bubble3D val="0"/>
            <c:spPr>
              <a:solidFill>
                <a:srgbClr val="00C2CB"/>
              </a:solidFill>
              <a:effectLst/>
            </c:spPr>
            <c:extLst>
              <c:ext xmlns:c16="http://schemas.microsoft.com/office/drawing/2014/chart" uri="{C3380CC4-5D6E-409C-BE32-E72D297353CC}">
                <c16:uniqueId val="{00000001-D071-4CCD-8E9B-49154A6AEBBA}"/>
              </c:ext>
            </c:extLst>
          </c:dPt>
          <c:dPt>
            <c:idx val="1"/>
            <c:bubble3D val="0"/>
            <c:spPr>
              <a:solidFill>
                <a:srgbClr val="1D6FA4"/>
              </a:solidFill>
              <a:effectLst/>
            </c:spPr>
            <c:extLst>
              <c:ext xmlns:c16="http://schemas.microsoft.com/office/drawing/2014/chart" uri="{C3380CC4-5D6E-409C-BE32-E72D297353CC}">
                <c16:uniqueId val="{00000003-D071-4CCD-8E9B-49154A6AEBBA}"/>
              </c:ext>
            </c:extLst>
          </c:dPt>
          <c:dPt>
            <c:idx val="2"/>
            <c:bubble3D val="0"/>
            <c:spPr>
              <a:solidFill>
                <a:srgbClr val="2ECC97"/>
              </a:solidFill>
              <a:effectLst/>
            </c:spPr>
            <c:extLst>
              <c:ext xmlns:c16="http://schemas.microsoft.com/office/drawing/2014/chart" uri="{C3380CC4-5D6E-409C-BE32-E72D297353CC}">
                <c16:uniqueId val="{00000005-D071-4CCD-8E9B-49154A6AEBBA}"/>
              </c:ext>
            </c:extLst>
          </c:dPt>
          <c:dPt>
            <c:idx val="3"/>
            <c:bubble3D val="0"/>
            <c:spPr>
              <a:solidFill>
                <a:srgbClr val="F5A623"/>
              </a:solidFill>
              <a:effectLst/>
            </c:spPr>
            <c:extLst>
              <c:ext xmlns:c16="http://schemas.microsoft.com/office/drawing/2014/chart" uri="{C3380CC4-5D6E-409C-BE32-E72D297353CC}">
                <c16:uniqueId val="{00000007-D071-4CCD-8E9B-49154A6AEBBA}"/>
              </c:ext>
            </c:extLst>
          </c:dPt>
          <c:dPt>
            <c:idx val="4"/>
            <c:bubble3D val="0"/>
            <c:spPr>
              <a:solidFill>
                <a:srgbClr val="E05757"/>
              </a:solidFill>
              <a:effectLst/>
            </c:spPr>
            <c:extLst>
              <c:ext xmlns:c16="http://schemas.microsoft.com/office/drawing/2014/chart" uri="{C3380CC4-5D6E-409C-BE32-E72D297353CC}">
                <c16:uniqueId val="{00000009-D071-4CCD-8E9B-49154A6AEBBA}"/>
              </c:ext>
            </c:extLst>
          </c:dPt>
          <c:dLbls>
            <c:dLbl>
              <c:idx val="0"/>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D071-4CCD-8E9B-49154A6AEBBA}"/>
                </c:ext>
              </c:extLst>
            </c:dLbl>
            <c:dLbl>
              <c:idx val="1"/>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D071-4CCD-8E9B-49154A6AEBBA}"/>
                </c:ext>
              </c:extLst>
            </c:dLbl>
            <c:dLbl>
              <c:idx val="2"/>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D071-4CCD-8E9B-49154A6AEBBA}"/>
                </c:ext>
              </c:extLst>
            </c:dLbl>
            <c:dLbl>
              <c:idx val="3"/>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D071-4CCD-8E9B-49154A6AEBBA}"/>
                </c:ext>
              </c:extLst>
            </c:dLbl>
            <c:dLbl>
              <c:idx val="4"/>
              <c:numFmt formatCode="0%" sourceLinked="0"/>
              <c:spPr/>
              <c:txPr>
                <a:bodyPr/>
                <a:lstStyle/>
                <a:p>
                  <a:pPr>
                    <a:defRPr sz="1200" b="0" i="0" u="none" strike="noStrike">
                      <a:solidFill>
                        <a:srgbClr val="000000"/>
                      </a:solidFill>
                      <a:latin typeface="Arial"/>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9-D071-4CCD-8E9B-49154A6AEBBA}"/>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showLegendKey val="0"/>
            <c:showVal val="0"/>
            <c:showCatName val="1"/>
            <c:showSerName val="0"/>
            <c:showPercent val="1"/>
            <c:showBubbleSize val="0"/>
            <c:showLeaderLines val="0"/>
            <c:extLst>
              <c:ext xmlns:c15="http://schemas.microsoft.com/office/drawing/2012/chart" uri="{CE6537A1-D6FC-4f65-9D91-7224C49458BB}"/>
            </c:extLst>
          </c:dLbls>
          <c:cat>
            <c:strRef>
              <c:f>Sheet1!$A$2:$A$6</c:f>
              <c:strCache>
                <c:ptCount val="5"/>
                <c:pt idx="0">
                  <c:v>Standard</c:v>
                </c:pt>
                <c:pt idx="1">
                  <c:v>Express</c:v>
                </c:pt>
                <c:pt idx="2">
                  <c:v>Overnight</c:v>
                </c:pt>
                <c:pt idx="3">
                  <c:v>Same Day</c:v>
                </c:pt>
                <c:pt idx="4">
                  <c:v>Expedited</c:v>
                </c:pt>
              </c:strCache>
            </c:strRef>
          </c:cat>
          <c:val>
            <c:numRef>
              <c:f>Sheet1!$B$2:$B$6</c:f>
              <c:numCache>
                <c:formatCode>General</c:formatCode>
                <c:ptCount val="5"/>
                <c:pt idx="0">
                  <c:v>6725</c:v>
                </c:pt>
                <c:pt idx="1">
                  <c:v>3366</c:v>
                </c:pt>
                <c:pt idx="2">
                  <c:v>3357</c:v>
                </c:pt>
                <c:pt idx="3">
                  <c:v>3280</c:v>
                </c:pt>
                <c:pt idx="4">
                  <c:v>3272</c:v>
                </c:pt>
              </c:numCache>
            </c:numRef>
          </c:val>
          <c:extLst>
            <c:ext xmlns:c16="http://schemas.microsoft.com/office/drawing/2014/chart" uri="{C3380CC4-5D6E-409C-BE32-E72D297353CC}">
              <c16:uniqueId val="{0000000A-D071-4CCD-8E9B-49154A6AEBBA}"/>
            </c:ext>
          </c:extLst>
        </c:ser>
        <c:dLbls>
          <c:showLegendKey val="0"/>
          <c:showVal val="0"/>
          <c:showCatName val="0"/>
          <c:showSerName val="0"/>
          <c:showPercent val="0"/>
          <c:showBubbleSize val="0"/>
          <c:showLeaderLines val="0"/>
        </c:dLbls>
        <c:firstSliceAng val="0"/>
        <c:holeSize val="50"/>
      </c:doughnutChart>
      <c:spPr>
        <a:noFill/>
        <a:ln>
          <a:noFill/>
        </a:ln>
        <a:effectLst/>
      </c:spPr>
    </c:plotArea>
    <c:legend>
      <c:legendPos val="b"/>
      <c:overlay val="0"/>
      <c:txPr>
        <a:bodyPr/>
        <a:lstStyle/>
        <a:p>
          <a:pPr>
            <a:defRPr sz="1000">
              <a:solidFill>
                <a:srgbClr val="8B9AB5"/>
              </a:solidFill>
            </a:defRPr>
          </a:pPr>
          <a:endParaRPr lang="en-US"/>
        </a:p>
      </c:txPr>
    </c:legend>
    <c:plotVisOnly val="1"/>
    <c:dispBlanksAs val="span"/>
    <c:showDLblsOverMax val="1"/>
  </c:chart>
  <c:spPr>
    <a:solidFill>
      <a:srgbClr val="0B1120"/>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200" b="0" i="0" u="none" strike="noStrike">
                <a:solidFill>
                  <a:srgbClr val="F0F4FF"/>
                </a:solidFill>
                <a:latin typeface="Arial"/>
              </a:defRPr>
            </a:pPr>
            <a:r>
              <a:rPr lang="en-IN" sz="1200" b="0" i="0" u="none" strike="noStrike">
                <a:solidFill>
                  <a:srgbClr val="F0F4FF"/>
                </a:solidFill>
                <a:latin typeface="Arial"/>
              </a:rPr>
              <a:t>Add-on Revenue by Category</a:t>
            </a:r>
          </a:p>
        </c:rich>
      </c:tx>
      <c:overlay val="0"/>
    </c:title>
    <c:autoTitleDeleted val="0"/>
    <c:plotArea>
      <c:layout/>
      <c:barChart>
        <c:barDir val="col"/>
        <c:grouping val="clustered"/>
        <c:varyColors val="0"/>
        <c:ser>
          <c:idx val="0"/>
          <c:order val="0"/>
          <c:tx>
            <c:strRef>
              <c:f>Sheet1!$B$1</c:f>
              <c:strCache>
                <c:ptCount val="1"/>
                <c:pt idx="0">
                  <c:v>Add-on Revenue</c:v>
                </c:pt>
              </c:strCache>
            </c:strRef>
          </c:tx>
          <c:spPr>
            <a:solidFill>
              <a:srgbClr val="F5A623"/>
            </a:solidFill>
            <a:effectLst/>
          </c:spPr>
          <c:invertIfNegative val="0"/>
          <c:dPt>
            <c:idx val="0"/>
            <c:invertIfNegative val="0"/>
            <c:bubble3D val="0"/>
            <c:extLst>
              <c:ext xmlns:c16="http://schemas.microsoft.com/office/drawing/2014/chart" uri="{C3380CC4-5D6E-409C-BE32-E72D297353CC}">
                <c16:uniqueId val="{00000001-FACD-42A6-ADE5-5DAA8588C9C6}"/>
              </c:ext>
            </c:extLst>
          </c:dPt>
          <c:dPt>
            <c:idx val="1"/>
            <c:invertIfNegative val="0"/>
            <c:bubble3D val="0"/>
            <c:spPr>
              <a:solidFill>
                <a:srgbClr val="00C2CB"/>
              </a:solidFill>
              <a:effectLst/>
            </c:spPr>
            <c:extLst>
              <c:ext xmlns:c16="http://schemas.microsoft.com/office/drawing/2014/chart" uri="{C3380CC4-5D6E-409C-BE32-E72D297353CC}">
                <c16:uniqueId val="{00000003-FACD-42A6-ADE5-5DAA8588C9C6}"/>
              </c:ext>
            </c:extLst>
          </c:dPt>
          <c:dPt>
            <c:idx val="2"/>
            <c:invertIfNegative val="0"/>
            <c:bubble3D val="0"/>
            <c:spPr>
              <a:solidFill>
                <a:srgbClr val="2ECC97"/>
              </a:solidFill>
              <a:effectLst/>
            </c:spPr>
            <c:extLst>
              <c:ext xmlns:c16="http://schemas.microsoft.com/office/drawing/2014/chart" uri="{C3380CC4-5D6E-409C-BE32-E72D297353CC}">
                <c16:uniqueId val="{00000005-FACD-42A6-ADE5-5DAA8588C9C6}"/>
              </c:ext>
            </c:extLst>
          </c:dPt>
          <c:dPt>
            <c:idx val="3"/>
            <c:invertIfNegative val="0"/>
            <c:bubble3D val="0"/>
            <c:spPr>
              <a:solidFill>
                <a:srgbClr val="1D6FA4"/>
              </a:solidFill>
              <a:effectLst/>
            </c:spPr>
            <c:extLst>
              <c:ext xmlns:c16="http://schemas.microsoft.com/office/drawing/2014/chart" uri="{C3380CC4-5D6E-409C-BE32-E72D297353CC}">
                <c16:uniqueId val="{00000007-FACD-42A6-ADE5-5DAA8588C9C6}"/>
              </c:ext>
            </c:extLst>
          </c:dPt>
          <c:dLbls>
            <c:numFmt formatCode="#,##0" sourceLinked="0"/>
            <c:spPr>
              <a:noFill/>
              <a:ln>
                <a:noFill/>
              </a:ln>
              <a:effectLst/>
            </c:spPr>
            <c:txPr>
              <a:bodyPr/>
              <a:lstStyle/>
              <a:p>
                <a:pPr>
                  <a:defRPr sz="1000" b="0" i="0" u="none" strike="noStrike">
                    <a:solidFill>
                      <a:srgbClr val="F0F4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Accessory</c:v>
                </c:pt>
                <c:pt idx="1">
                  <c:v>Impulse Item</c:v>
                </c:pt>
                <c:pt idx="2">
                  <c:v>Extended Warranty</c:v>
                </c:pt>
                <c:pt idx="3">
                  <c:v>Other</c:v>
                </c:pt>
              </c:strCache>
            </c:strRef>
          </c:cat>
          <c:val>
            <c:numRef>
              <c:f>Sheet1!$B$2:$B$5</c:f>
              <c:numCache>
                <c:formatCode>General</c:formatCode>
                <c:ptCount val="4"/>
                <c:pt idx="0">
                  <c:v>1350000</c:v>
                </c:pt>
                <c:pt idx="1">
                  <c:v>720000</c:v>
                </c:pt>
                <c:pt idx="2">
                  <c:v>390000</c:v>
                </c:pt>
                <c:pt idx="3">
                  <c:v>100000</c:v>
                </c:pt>
              </c:numCache>
            </c:numRef>
          </c:val>
          <c:extLst>
            <c:ext xmlns:c16="http://schemas.microsoft.com/office/drawing/2014/chart" uri="{C3380CC4-5D6E-409C-BE32-E72D297353CC}">
              <c16:uniqueId val="{00000008-FACD-42A6-ADE5-5DAA8588C9C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1E355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32038"/>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200" b="0" i="0" u="none" strike="noStrike">
                <a:solidFill>
                  <a:srgbClr val="F0F4FF"/>
                </a:solidFill>
                <a:latin typeface="Arial"/>
              </a:defRPr>
            </a:pPr>
            <a:r>
              <a:rPr lang="en-IN" sz="1200" b="0" i="0" u="none" strike="noStrike">
                <a:solidFill>
                  <a:srgbClr val="F0F4FF"/>
                </a:solidFill>
                <a:latin typeface="Arial"/>
              </a:rPr>
              <a:t>Customers by Age Group</a:t>
            </a:r>
          </a:p>
        </c:rich>
      </c:tx>
      <c:overlay val="0"/>
    </c:title>
    <c:autoTitleDeleted val="0"/>
    <c:plotArea>
      <c:layout/>
      <c:barChart>
        <c:barDir val="col"/>
        <c:grouping val="clustered"/>
        <c:varyColors val="0"/>
        <c:ser>
          <c:idx val="0"/>
          <c:order val="0"/>
          <c:tx>
            <c:strRef>
              <c:f>Sheet1!$B$1</c:f>
              <c:strCache>
                <c:ptCount val="1"/>
                <c:pt idx="0">
                  <c:v>Customers</c:v>
                </c:pt>
              </c:strCache>
            </c:strRef>
          </c:tx>
          <c:spPr>
            <a:solidFill>
              <a:srgbClr val="00C2CB"/>
            </a:solidFill>
            <a:effectLst/>
          </c:spPr>
          <c:invertIfNegative val="0"/>
          <c:dPt>
            <c:idx val="0"/>
            <c:invertIfNegative val="0"/>
            <c:bubble3D val="0"/>
            <c:extLst>
              <c:ext xmlns:c16="http://schemas.microsoft.com/office/drawing/2014/chart" uri="{C3380CC4-5D6E-409C-BE32-E72D297353CC}">
                <c16:uniqueId val="{00000001-D138-4FEA-9469-18D13CAA2D67}"/>
              </c:ext>
            </c:extLst>
          </c:dPt>
          <c:dPt>
            <c:idx val="1"/>
            <c:invertIfNegative val="0"/>
            <c:bubble3D val="0"/>
            <c:spPr>
              <a:solidFill>
                <a:srgbClr val="1D6FA4"/>
              </a:solidFill>
              <a:effectLst/>
            </c:spPr>
            <c:extLst>
              <c:ext xmlns:c16="http://schemas.microsoft.com/office/drawing/2014/chart" uri="{C3380CC4-5D6E-409C-BE32-E72D297353CC}">
                <c16:uniqueId val="{00000003-D138-4FEA-9469-18D13CAA2D67}"/>
              </c:ext>
            </c:extLst>
          </c:dPt>
          <c:dPt>
            <c:idx val="2"/>
            <c:invertIfNegative val="0"/>
            <c:bubble3D val="0"/>
            <c:spPr>
              <a:solidFill>
                <a:srgbClr val="2ECC97"/>
              </a:solidFill>
              <a:effectLst/>
            </c:spPr>
            <c:extLst>
              <c:ext xmlns:c16="http://schemas.microsoft.com/office/drawing/2014/chart" uri="{C3380CC4-5D6E-409C-BE32-E72D297353CC}">
                <c16:uniqueId val="{00000005-D138-4FEA-9469-18D13CAA2D67}"/>
              </c:ext>
            </c:extLst>
          </c:dPt>
          <c:dPt>
            <c:idx val="3"/>
            <c:invertIfNegative val="0"/>
            <c:bubble3D val="0"/>
            <c:spPr>
              <a:solidFill>
                <a:srgbClr val="F5A623"/>
              </a:solidFill>
              <a:effectLst/>
            </c:spPr>
            <c:extLst>
              <c:ext xmlns:c16="http://schemas.microsoft.com/office/drawing/2014/chart" uri="{C3380CC4-5D6E-409C-BE32-E72D297353CC}">
                <c16:uniqueId val="{00000007-D138-4FEA-9469-18D13CAA2D67}"/>
              </c:ext>
            </c:extLst>
          </c:dPt>
          <c:dPt>
            <c:idx val="4"/>
            <c:invertIfNegative val="0"/>
            <c:bubble3D val="0"/>
            <c:spPr>
              <a:solidFill>
                <a:srgbClr val="E05757"/>
              </a:solidFill>
              <a:effectLst/>
            </c:spPr>
            <c:extLst>
              <c:ext xmlns:c16="http://schemas.microsoft.com/office/drawing/2014/chart" uri="{C3380CC4-5D6E-409C-BE32-E72D297353CC}">
                <c16:uniqueId val="{00000009-D138-4FEA-9469-18D13CAA2D67}"/>
              </c:ext>
            </c:extLst>
          </c:dPt>
          <c:dPt>
            <c:idx val="5"/>
            <c:invertIfNegative val="0"/>
            <c:bubble3D val="0"/>
            <c:spPr>
              <a:solidFill>
                <a:srgbClr val="A855F7"/>
              </a:solidFill>
              <a:effectLst/>
            </c:spPr>
            <c:extLst>
              <c:ext xmlns:c16="http://schemas.microsoft.com/office/drawing/2014/chart" uri="{C3380CC4-5D6E-409C-BE32-E72D297353CC}">
                <c16:uniqueId val="{0000000B-D138-4FEA-9469-18D13CAA2D67}"/>
              </c:ext>
            </c:extLst>
          </c:dPt>
          <c:dLbls>
            <c:numFmt formatCode="#,##0" sourceLinked="0"/>
            <c:spPr>
              <a:noFill/>
              <a:ln>
                <a:noFill/>
              </a:ln>
              <a:effectLst/>
            </c:spPr>
            <c:txPr>
              <a:bodyPr/>
              <a:lstStyle/>
              <a:p>
                <a:pPr>
                  <a:defRPr sz="900" b="0" i="0" u="none" strike="noStrike">
                    <a:solidFill>
                      <a:srgbClr val="F0F4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18-25</c:v>
                </c:pt>
                <c:pt idx="1">
                  <c:v>26-35</c:v>
                </c:pt>
                <c:pt idx="2">
                  <c:v>36-45</c:v>
                </c:pt>
                <c:pt idx="3">
                  <c:v>46-55</c:v>
                </c:pt>
                <c:pt idx="4">
                  <c:v>56-65</c:v>
                </c:pt>
                <c:pt idx="5">
                  <c:v>65+</c:v>
                </c:pt>
              </c:strCache>
            </c:strRef>
          </c:cat>
          <c:val>
            <c:numRef>
              <c:f>Sheet1!$B$2:$B$7</c:f>
              <c:numCache>
                <c:formatCode>General</c:formatCode>
                <c:ptCount val="6"/>
                <c:pt idx="0">
                  <c:v>2451</c:v>
                </c:pt>
                <c:pt idx="1">
                  <c:v>3184</c:v>
                </c:pt>
                <c:pt idx="2">
                  <c:v>3306</c:v>
                </c:pt>
                <c:pt idx="3">
                  <c:v>3153</c:v>
                </c:pt>
                <c:pt idx="4">
                  <c:v>3195</c:v>
                </c:pt>
                <c:pt idx="5">
                  <c:v>4711</c:v>
                </c:pt>
              </c:numCache>
            </c:numRef>
          </c:val>
          <c:extLst>
            <c:ext xmlns:c16="http://schemas.microsoft.com/office/drawing/2014/chart" uri="{C3380CC4-5D6E-409C-BE32-E72D297353CC}">
              <c16:uniqueId val="{0000000C-D138-4FEA-9469-18D13CAA2D67}"/>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1E355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32038"/>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title>
      <c:tx>
        <c:rich>
          <a:bodyPr/>
          <a:lstStyle/>
          <a:p>
            <a:pPr>
              <a:defRPr sz="1200" b="0" i="0" u="none" strike="noStrike">
                <a:solidFill>
                  <a:srgbClr val="F0F4FF"/>
                </a:solidFill>
                <a:latin typeface="Arial"/>
              </a:defRPr>
            </a:pPr>
            <a:r>
              <a:rPr lang="en-US" sz="1200" b="0" i="0" u="none" strike="noStrike">
                <a:solidFill>
                  <a:srgbClr val="F0F4FF"/>
                </a:solidFill>
                <a:latin typeface="Arial"/>
              </a:rPr>
              <a:t>Average Rating by Product Type</a:t>
            </a:r>
          </a:p>
        </c:rich>
      </c:tx>
      <c:overlay val="0"/>
    </c:title>
    <c:autoTitleDeleted val="0"/>
    <c:plotArea>
      <c:layout/>
      <c:barChart>
        <c:barDir val="col"/>
        <c:grouping val="clustered"/>
        <c:varyColors val="0"/>
        <c:ser>
          <c:idx val="0"/>
          <c:order val="0"/>
          <c:tx>
            <c:strRef>
              <c:f>Sheet1!$B$1</c:f>
              <c:strCache>
                <c:ptCount val="1"/>
                <c:pt idx="0">
                  <c:v>Avg Rating</c:v>
                </c:pt>
              </c:strCache>
            </c:strRef>
          </c:tx>
          <c:spPr>
            <a:solidFill>
              <a:srgbClr val="00C2CB"/>
            </a:solidFill>
            <a:effectLst/>
          </c:spPr>
          <c:invertIfNegative val="0"/>
          <c:dPt>
            <c:idx val="0"/>
            <c:invertIfNegative val="0"/>
            <c:bubble3D val="0"/>
            <c:extLst>
              <c:ext xmlns:c16="http://schemas.microsoft.com/office/drawing/2014/chart" uri="{C3380CC4-5D6E-409C-BE32-E72D297353CC}">
                <c16:uniqueId val="{00000001-376D-44DA-8880-C5BA53684431}"/>
              </c:ext>
            </c:extLst>
          </c:dPt>
          <c:dPt>
            <c:idx val="1"/>
            <c:invertIfNegative val="0"/>
            <c:bubble3D val="0"/>
            <c:spPr>
              <a:solidFill>
                <a:srgbClr val="1D6FA4"/>
              </a:solidFill>
              <a:effectLst/>
            </c:spPr>
            <c:extLst>
              <c:ext xmlns:c16="http://schemas.microsoft.com/office/drawing/2014/chart" uri="{C3380CC4-5D6E-409C-BE32-E72D297353CC}">
                <c16:uniqueId val="{00000003-376D-44DA-8880-C5BA53684431}"/>
              </c:ext>
            </c:extLst>
          </c:dPt>
          <c:dPt>
            <c:idx val="2"/>
            <c:invertIfNegative val="0"/>
            <c:bubble3D val="0"/>
            <c:spPr>
              <a:solidFill>
                <a:srgbClr val="2ECC97"/>
              </a:solidFill>
              <a:effectLst/>
            </c:spPr>
            <c:extLst>
              <c:ext xmlns:c16="http://schemas.microsoft.com/office/drawing/2014/chart" uri="{C3380CC4-5D6E-409C-BE32-E72D297353CC}">
                <c16:uniqueId val="{00000005-376D-44DA-8880-C5BA53684431}"/>
              </c:ext>
            </c:extLst>
          </c:dPt>
          <c:dPt>
            <c:idx val="3"/>
            <c:invertIfNegative val="0"/>
            <c:bubble3D val="0"/>
            <c:spPr>
              <a:solidFill>
                <a:srgbClr val="F5A623"/>
              </a:solidFill>
              <a:effectLst/>
            </c:spPr>
            <c:extLst>
              <c:ext xmlns:c16="http://schemas.microsoft.com/office/drawing/2014/chart" uri="{C3380CC4-5D6E-409C-BE32-E72D297353CC}">
                <c16:uniqueId val="{00000007-376D-44DA-8880-C5BA53684431}"/>
              </c:ext>
            </c:extLst>
          </c:dPt>
          <c:dPt>
            <c:idx val="4"/>
            <c:invertIfNegative val="0"/>
            <c:bubble3D val="0"/>
            <c:spPr>
              <a:solidFill>
                <a:srgbClr val="E05757"/>
              </a:solidFill>
              <a:effectLst/>
            </c:spPr>
            <c:extLst>
              <c:ext xmlns:c16="http://schemas.microsoft.com/office/drawing/2014/chart" uri="{C3380CC4-5D6E-409C-BE32-E72D297353CC}">
                <c16:uniqueId val="{00000009-376D-44DA-8880-C5BA53684431}"/>
              </c:ext>
            </c:extLst>
          </c:dPt>
          <c:dLbls>
            <c:numFmt formatCode="#,##0" sourceLinked="0"/>
            <c:spPr>
              <a:noFill/>
              <a:ln>
                <a:noFill/>
              </a:ln>
              <a:effectLst/>
            </c:spPr>
            <c:txPr>
              <a:bodyPr/>
              <a:lstStyle/>
              <a:p>
                <a:pPr>
                  <a:defRPr sz="1100" b="0" i="0" u="none" strike="noStrike">
                    <a:solidFill>
                      <a:srgbClr val="F0F4FF"/>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Smartphone</c:v>
                </c:pt>
                <c:pt idx="1">
                  <c:v>Tablet</c:v>
                </c:pt>
                <c:pt idx="2">
                  <c:v>Laptop</c:v>
                </c:pt>
                <c:pt idx="3">
                  <c:v>Smartwatch</c:v>
                </c:pt>
                <c:pt idx="4">
                  <c:v>Headphones</c:v>
                </c:pt>
              </c:strCache>
            </c:strRef>
          </c:cat>
          <c:val>
            <c:numRef>
              <c:f>Sheet1!$B$2:$B$6</c:f>
              <c:numCache>
                <c:formatCode>General</c:formatCode>
                <c:ptCount val="5"/>
                <c:pt idx="0">
                  <c:v>3.12</c:v>
                </c:pt>
                <c:pt idx="1">
                  <c:v>3.08</c:v>
                </c:pt>
                <c:pt idx="2">
                  <c:v>3.1</c:v>
                </c:pt>
                <c:pt idx="3">
                  <c:v>3.09</c:v>
                </c:pt>
                <c:pt idx="4">
                  <c:v>3.07</c:v>
                </c:pt>
              </c:numCache>
            </c:numRef>
          </c:val>
          <c:extLst>
            <c:ext xmlns:c16="http://schemas.microsoft.com/office/drawing/2014/chart" uri="{C3380CC4-5D6E-409C-BE32-E72D297353CC}">
              <c16:uniqueId val="{0000000A-376D-44DA-8880-C5BA53684431}"/>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2"/>
        <c:crosses val="autoZero"/>
        <c:auto val="1"/>
        <c:lblAlgn val="ctr"/>
        <c:lblOffset val="100"/>
        <c:noMultiLvlLbl val="1"/>
      </c:catAx>
      <c:valAx>
        <c:axId val="2094734552"/>
        <c:scaling>
          <c:orientation val="minMax"/>
          <c:max val="3.3"/>
          <c:min val="2.9"/>
        </c:scaling>
        <c:delete val="0"/>
        <c:axPos val="l"/>
        <c:majorGridlines>
          <c:spPr>
            <a:ln w="6350" cap="flat">
              <a:solidFill>
                <a:srgbClr val="1E355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B9AB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solidFill>
      <a:srgbClr val="132038"/>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03446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01664427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871417805"/>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79890486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82540393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4043295702"/>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79152580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1963158576"/>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173874336"/>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233594428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927098880"/>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64DE79-268F-4C1A-8933-263129D2AF90}" type="datetimeFigureOut">
              <a:rPr lang="en-US" smtClean="0"/>
              <a:t>3/10/2026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Tree>
    <p:extLst>
      <p:ext uri="{BB962C8B-B14F-4D97-AF65-F5344CB8AC3E}">
        <p14:creationId xmlns:p14="http://schemas.microsoft.com/office/powerpoint/2010/main" val="366114425"/>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15973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C764DE79-268F-4C1A-8933-263129D2AF90}" type="datetimeFigureOut">
              <a:rPr lang="en-US" smtClean="0"/>
              <a:t>3/10/2026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48F63A3B-78C7-47BE-AE5E-E10140E04643}" type="slidenum">
              <a:rPr lang="en-US" smtClean="0"/>
              <a:t>‹#›</a:t>
            </a:fld>
            <a:endParaRPr lang="en-US" dirty="0"/>
          </a:p>
        </p:txBody>
      </p:sp>
    </p:spTree>
    <p:extLst>
      <p:ext uri="{BB962C8B-B14F-4D97-AF65-F5344CB8AC3E}">
        <p14:creationId xmlns:p14="http://schemas.microsoft.com/office/powerpoint/2010/main" val="1991503966"/>
      </p:ext>
    </p:extLst>
  </p:cSld>
  <p:clrMap bg1="dk1" tx1="lt1" bg2="dk2" tx2="lt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Lst>
  <p:hf sldNum="0"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457200" cy="5143500"/>
          </a:xfrm>
          <a:prstGeom prst="rect">
            <a:avLst/>
          </a:prstGeom>
          <a:solidFill>
            <a:srgbClr val="00C2CB"/>
          </a:solidFill>
          <a:ln w="12700">
            <a:solidFill>
              <a:srgbClr val="00C2CB"/>
            </a:solidFill>
            <a:prstDash val="solid"/>
          </a:ln>
        </p:spPr>
      </p:sp>
      <p:sp>
        <p:nvSpPr>
          <p:cNvPr id="3" name="Shape 1"/>
          <p:cNvSpPr/>
          <p:nvPr/>
        </p:nvSpPr>
        <p:spPr>
          <a:xfrm>
            <a:off x="457200" y="0"/>
            <a:ext cx="8686800" cy="5143500"/>
          </a:xfrm>
          <a:prstGeom prst="rect">
            <a:avLst/>
          </a:prstGeom>
          <a:solidFill>
            <a:srgbClr val="0B1120"/>
          </a:solidFill>
          <a:ln w="12700">
            <a:solidFill>
              <a:srgbClr val="0B1120"/>
            </a:solidFill>
            <a:prstDash val="solid"/>
          </a:ln>
        </p:spPr>
      </p:sp>
      <p:sp>
        <p:nvSpPr>
          <p:cNvPr id="4" name="Shape 2"/>
          <p:cNvSpPr/>
          <p:nvPr/>
        </p:nvSpPr>
        <p:spPr>
          <a:xfrm>
            <a:off x="5943600" y="0"/>
            <a:ext cx="3200400" cy="5143500"/>
          </a:xfrm>
          <a:prstGeom prst="rect">
            <a:avLst/>
          </a:prstGeom>
          <a:solidFill>
            <a:srgbClr val="0F1E3C"/>
          </a:solidFill>
          <a:ln w="12700">
            <a:solidFill>
              <a:srgbClr val="0F1E3C"/>
            </a:solidFill>
            <a:prstDash val="solid"/>
          </a:ln>
        </p:spPr>
      </p:sp>
      <p:sp>
        <p:nvSpPr>
          <p:cNvPr id="5" name="Shape 3"/>
          <p:cNvSpPr/>
          <p:nvPr/>
        </p:nvSpPr>
        <p:spPr>
          <a:xfrm>
            <a:off x="5943600" y="0"/>
            <a:ext cx="36576" cy="5143500"/>
          </a:xfrm>
          <a:prstGeom prst="rect">
            <a:avLst/>
          </a:prstGeom>
          <a:solidFill>
            <a:srgbClr val="00C2CB"/>
          </a:solidFill>
          <a:ln w="12700">
            <a:solidFill>
              <a:srgbClr val="00C2CB"/>
            </a:solidFill>
            <a:prstDash val="solid"/>
          </a:ln>
        </p:spPr>
      </p:sp>
      <p:sp>
        <p:nvSpPr>
          <p:cNvPr id="6" name="Text 4"/>
          <p:cNvSpPr/>
          <p:nvPr/>
        </p:nvSpPr>
        <p:spPr>
          <a:xfrm>
            <a:off x="731520" y="640080"/>
            <a:ext cx="5029200" cy="731520"/>
          </a:xfrm>
          <a:prstGeom prst="rect">
            <a:avLst/>
          </a:prstGeom>
          <a:noFill/>
          <a:ln/>
        </p:spPr>
        <p:txBody>
          <a:bodyPr wrap="square" lIns="0" tIns="0" rIns="0" bIns="0" rtlCol="0" anchor="ctr"/>
          <a:lstStyle/>
          <a:p>
            <a:pPr marL="0" indent="0">
              <a:buNone/>
            </a:pPr>
            <a:r>
              <a:rPr lang="en-US" sz="4800" b="1" kern="0" spc="600" dirty="0">
                <a:solidFill>
                  <a:srgbClr val="00C2CB"/>
                </a:solidFill>
                <a:latin typeface="Calibri" pitchFamily="34" charset="0"/>
                <a:ea typeface="Calibri" pitchFamily="34" charset="-122"/>
                <a:cs typeface="Calibri" pitchFamily="34" charset="-120"/>
              </a:rPr>
              <a:t>ELECTRONICS</a:t>
            </a:r>
            <a:endParaRPr lang="en-US" sz="4800" dirty="0"/>
          </a:p>
        </p:txBody>
      </p:sp>
      <p:sp>
        <p:nvSpPr>
          <p:cNvPr id="7" name="Text 5"/>
          <p:cNvSpPr/>
          <p:nvPr/>
        </p:nvSpPr>
        <p:spPr>
          <a:xfrm>
            <a:off x="731520" y="1353312"/>
            <a:ext cx="5029200" cy="731520"/>
          </a:xfrm>
          <a:prstGeom prst="rect">
            <a:avLst/>
          </a:prstGeom>
          <a:noFill/>
          <a:ln/>
        </p:spPr>
        <p:txBody>
          <a:bodyPr wrap="square" lIns="0" tIns="0" rIns="0" bIns="0" rtlCol="0" anchor="ctr"/>
          <a:lstStyle/>
          <a:p>
            <a:pPr marL="0" indent="0">
              <a:buNone/>
            </a:pPr>
            <a:r>
              <a:rPr lang="en-US" sz="4000" b="1" kern="0" spc="300" dirty="0">
                <a:solidFill>
                  <a:srgbClr val="F0F4FF"/>
                </a:solidFill>
                <a:latin typeface="Calibri" pitchFamily="34" charset="0"/>
                <a:ea typeface="Calibri" pitchFamily="34" charset="-122"/>
                <a:cs typeface="Calibri" pitchFamily="34" charset="-120"/>
              </a:rPr>
              <a:t>SALES ANALYSIS</a:t>
            </a:r>
            <a:endParaRPr lang="en-US" sz="4000" dirty="0"/>
          </a:p>
        </p:txBody>
      </p:sp>
      <p:sp>
        <p:nvSpPr>
          <p:cNvPr id="8" name="Text 6"/>
          <p:cNvSpPr/>
          <p:nvPr/>
        </p:nvSpPr>
        <p:spPr>
          <a:xfrm>
            <a:off x="731520" y="2240280"/>
            <a:ext cx="5029200" cy="365760"/>
          </a:xfrm>
          <a:prstGeom prst="rect">
            <a:avLst/>
          </a:prstGeom>
          <a:noFill/>
          <a:ln/>
        </p:spPr>
        <p:txBody>
          <a:bodyPr wrap="square" lIns="0" tIns="0" rIns="0" bIns="0" rtlCol="0" anchor="ctr"/>
          <a:lstStyle/>
          <a:p>
            <a:pPr marL="0" indent="0">
              <a:buNone/>
            </a:pPr>
            <a:r>
              <a:rPr lang="en-US" sz="1600" dirty="0">
                <a:solidFill>
                  <a:srgbClr val="F5A623"/>
                </a:solidFill>
                <a:latin typeface="Calibri" pitchFamily="34" charset="0"/>
                <a:ea typeface="Calibri" pitchFamily="34" charset="-122"/>
                <a:cs typeface="Calibri" pitchFamily="34" charset="-120"/>
              </a:rPr>
              <a:t>Sep 2023 – Sep 2024</a:t>
            </a:r>
            <a:endParaRPr lang="en-US" sz="1600" dirty="0"/>
          </a:p>
        </p:txBody>
      </p:sp>
      <p:sp>
        <p:nvSpPr>
          <p:cNvPr id="9" name="Text 7"/>
          <p:cNvSpPr/>
          <p:nvPr/>
        </p:nvSpPr>
        <p:spPr>
          <a:xfrm>
            <a:off x="731520" y="2743200"/>
            <a:ext cx="4937760" cy="1188720"/>
          </a:xfrm>
          <a:prstGeom prst="rect">
            <a:avLst/>
          </a:prstGeom>
          <a:noFill/>
          <a:ln/>
        </p:spPr>
        <p:txBody>
          <a:bodyPr wrap="square" lIns="0" tIns="0" rIns="0" bIns="0" rtlCol="0" anchor="ctr"/>
          <a:lstStyle/>
          <a:p>
            <a:pPr marL="0" indent="0">
              <a:buNone/>
            </a:pPr>
            <a:r>
              <a:rPr lang="en-US" sz="1300" dirty="0">
                <a:solidFill>
                  <a:srgbClr val="8B9AB5"/>
                </a:solidFill>
                <a:latin typeface="Calibri" pitchFamily="34" charset="0"/>
                <a:ea typeface="Calibri" pitchFamily="34" charset="-122"/>
                <a:cs typeface="Calibri" pitchFamily="34" charset="-120"/>
              </a:rPr>
              <a:t>A comprehensive data analysis of 20,000 electronic sales transactions</a:t>
            </a:r>
            <a:endParaRPr lang="en-US" sz="1300" dirty="0"/>
          </a:p>
          <a:p>
            <a:pPr marL="0" indent="0">
              <a:buNone/>
            </a:pPr>
            <a:r>
              <a:rPr lang="en-US" sz="1300" dirty="0">
                <a:solidFill>
                  <a:srgbClr val="8B9AB5"/>
                </a:solidFill>
                <a:latin typeface="Calibri" pitchFamily="34" charset="0"/>
                <a:ea typeface="Calibri" pitchFamily="34" charset="-122"/>
                <a:cs typeface="Calibri" pitchFamily="34" charset="-120"/>
              </a:rPr>
              <a:t>sourced from the Kaggle dataset, covering customer demographics,</a:t>
            </a:r>
            <a:endParaRPr lang="en-US" sz="1300" dirty="0"/>
          </a:p>
          <a:p>
            <a:pPr marL="0" indent="0">
              <a:buNone/>
            </a:pPr>
            <a:r>
              <a:rPr lang="en-US" sz="1300" dirty="0">
                <a:solidFill>
                  <a:srgbClr val="8B9AB5"/>
                </a:solidFill>
                <a:latin typeface="Calibri" pitchFamily="34" charset="0"/>
                <a:ea typeface="Calibri" pitchFamily="34" charset="-122"/>
                <a:cs typeface="Calibri" pitchFamily="34" charset="-120"/>
              </a:rPr>
              <a:t>product performance, and purchasing behavior.</a:t>
            </a:r>
            <a:endParaRPr lang="en-US" sz="1300" dirty="0"/>
          </a:p>
        </p:txBody>
      </p:sp>
      <p:sp>
        <p:nvSpPr>
          <p:cNvPr id="10" name="Text 8"/>
          <p:cNvSpPr/>
          <p:nvPr/>
        </p:nvSpPr>
        <p:spPr>
          <a:xfrm>
            <a:off x="6309360" y="457200"/>
            <a:ext cx="2560320" cy="274320"/>
          </a:xfrm>
          <a:prstGeom prst="rect">
            <a:avLst/>
          </a:prstGeom>
          <a:noFill/>
          <a:ln/>
        </p:spPr>
        <p:txBody>
          <a:bodyPr wrap="square" lIns="0" tIns="0" rIns="0" bIns="0" rtlCol="0" anchor="ctr"/>
          <a:lstStyle/>
          <a:p>
            <a:pPr marL="0" indent="0">
              <a:buNone/>
            </a:pPr>
            <a:r>
              <a:rPr lang="en-US" sz="1000" b="1" kern="0" spc="200" dirty="0">
                <a:solidFill>
                  <a:srgbClr val="00C2CB"/>
                </a:solidFill>
                <a:latin typeface="Calibri" pitchFamily="34" charset="0"/>
                <a:ea typeface="Calibri" pitchFamily="34" charset="-122"/>
                <a:cs typeface="Calibri" pitchFamily="34" charset="-120"/>
              </a:rPr>
              <a:t>DATASET OVERVIEW</a:t>
            </a:r>
            <a:endParaRPr lang="en-US" sz="1000" dirty="0"/>
          </a:p>
        </p:txBody>
      </p:sp>
      <p:sp>
        <p:nvSpPr>
          <p:cNvPr id="11" name="Shape 9"/>
          <p:cNvSpPr/>
          <p:nvPr/>
        </p:nvSpPr>
        <p:spPr>
          <a:xfrm>
            <a:off x="6217920" y="868680"/>
            <a:ext cx="2651760" cy="658368"/>
          </a:xfrm>
          <a:prstGeom prst="rect">
            <a:avLst/>
          </a:prstGeom>
          <a:solidFill>
            <a:srgbClr val="132038"/>
          </a:solidFill>
          <a:ln w="12700">
            <a:solidFill>
              <a:srgbClr val="1E3558"/>
            </a:solidFill>
            <a:prstDash val="solid"/>
          </a:ln>
        </p:spPr>
      </p:sp>
      <p:sp>
        <p:nvSpPr>
          <p:cNvPr id="12" name="Text 10"/>
          <p:cNvSpPr/>
          <p:nvPr/>
        </p:nvSpPr>
        <p:spPr>
          <a:xfrm>
            <a:off x="6355080" y="905256"/>
            <a:ext cx="2377440" cy="320040"/>
          </a:xfrm>
          <a:prstGeom prst="rect">
            <a:avLst/>
          </a:prstGeom>
          <a:noFill/>
          <a:ln/>
        </p:spPr>
        <p:txBody>
          <a:bodyPr wrap="square" lIns="0" tIns="0" rIns="0" bIns="0" rtlCol="0" anchor="ctr"/>
          <a:lstStyle/>
          <a:p>
            <a:pPr marL="0" indent="0">
              <a:buNone/>
            </a:pPr>
            <a:r>
              <a:rPr lang="en-US" sz="2000" b="1" dirty="0">
                <a:solidFill>
                  <a:srgbClr val="F5A623"/>
                </a:solidFill>
                <a:latin typeface="Calibri" pitchFamily="34" charset="0"/>
                <a:ea typeface="Calibri" pitchFamily="34" charset="-122"/>
                <a:cs typeface="Calibri" pitchFamily="34" charset="-120"/>
              </a:rPr>
              <a:t>20,000</a:t>
            </a:r>
            <a:endParaRPr lang="en-US" sz="2000" dirty="0"/>
          </a:p>
        </p:txBody>
      </p:sp>
      <p:sp>
        <p:nvSpPr>
          <p:cNvPr id="13" name="Text 11"/>
          <p:cNvSpPr/>
          <p:nvPr/>
        </p:nvSpPr>
        <p:spPr>
          <a:xfrm>
            <a:off x="6355080" y="1216152"/>
            <a:ext cx="237744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Total Records</a:t>
            </a:r>
            <a:endParaRPr lang="en-US" sz="1000" dirty="0"/>
          </a:p>
        </p:txBody>
      </p:sp>
      <p:sp>
        <p:nvSpPr>
          <p:cNvPr id="14" name="Shape 12"/>
          <p:cNvSpPr/>
          <p:nvPr/>
        </p:nvSpPr>
        <p:spPr>
          <a:xfrm>
            <a:off x="6217920" y="1645920"/>
            <a:ext cx="2651760" cy="658368"/>
          </a:xfrm>
          <a:prstGeom prst="rect">
            <a:avLst/>
          </a:prstGeom>
          <a:solidFill>
            <a:srgbClr val="132038"/>
          </a:solidFill>
          <a:ln w="12700">
            <a:solidFill>
              <a:srgbClr val="1E3558"/>
            </a:solidFill>
            <a:prstDash val="solid"/>
          </a:ln>
        </p:spPr>
      </p:sp>
      <p:sp>
        <p:nvSpPr>
          <p:cNvPr id="15" name="Text 13"/>
          <p:cNvSpPr/>
          <p:nvPr/>
        </p:nvSpPr>
        <p:spPr>
          <a:xfrm>
            <a:off x="6355080" y="1682496"/>
            <a:ext cx="2377440" cy="320040"/>
          </a:xfrm>
          <a:prstGeom prst="rect">
            <a:avLst/>
          </a:prstGeom>
          <a:noFill/>
          <a:ln/>
        </p:spPr>
        <p:txBody>
          <a:bodyPr wrap="square" lIns="0" tIns="0" rIns="0" bIns="0" rtlCol="0" anchor="ctr"/>
          <a:lstStyle/>
          <a:p>
            <a:pPr marL="0" indent="0">
              <a:buNone/>
            </a:pPr>
            <a:r>
              <a:rPr lang="en-US" sz="2000" b="1" dirty="0">
                <a:solidFill>
                  <a:srgbClr val="F5A623"/>
                </a:solidFill>
                <a:latin typeface="Calibri" pitchFamily="34" charset="0"/>
                <a:ea typeface="Calibri" pitchFamily="34" charset="-122"/>
                <a:cs typeface="Calibri" pitchFamily="34" charset="-120"/>
              </a:rPr>
              <a:t>16</a:t>
            </a:r>
            <a:endParaRPr lang="en-US" sz="2000" dirty="0"/>
          </a:p>
        </p:txBody>
      </p:sp>
      <p:sp>
        <p:nvSpPr>
          <p:cNvPr id="16" name="Text 14"/>
          <p:cNvSpPr/>
          <p:nvPr/>
        </p:nvSpPr>
        <p:spPr>
          <a:xfrm>
            <a:off x="6355080" y="1993392"/>
            <a:ext cx="237744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Data Columns</a:t>
            </a:r>
            <a:endParaRPr lang="en-US" sz="1000" dirty="0"/>
          </a:p>
        </p:txBody>
      </p:sp>
      <p:sp>
        <p:nvSpPr>
          <p:cNvPr id="17" name="Shape 15"/>
          <p:cNvSpPr/>
          <p:nvPr/>
        </p:nvSpPr>
        <p:spPr>
          <a:xfrm>
            <a:off x="6217920" y="2423160"/>
            <a:ext cx="2651760" cy="658368"/>
          </a:xfrm>
          <a:prstGeom prst="rect">
            <a:avLst/>
          </a:prstGeom>
          <a:solidFill>
            <a:srgbClr val="132038"/>
          </a:solidFill>
          <a:ln w="12700">
            <a:solidFill>
              <a:srgbClr val="1E3558"/>
            </a:solidFill>
            <a:prstDash val="solid"/>
          </a:ln>
        </p:spPr>
      </p:sp>
      <p:sp>
        <p:nvSpPr>
          <p:cNvPr id="18" name="Text 16"/>
          <p:cNvSpPr/>
          <p:nvPr/>
        </p:nvSpPr>
        <p:spPr>
          <a:xfrm>
            <a:off x="6355080" y="2459736"/>
            <a:ext cx="2377440" cy="320040"/>
          </a:xfrm>
          <a:prstGeom prst="rect">
            <a:avLst/>
          </a:prstGeom>
          <a:noFill/>
          <a:ln/>
        </p:spPr>
        <p:txBody>
          <a:bodyPr wrap="square" lIns="0" tIns="0" rIns="0" bIns="0" rtlCol="0" anchor="ctr"/>
          <a:lstStyle/>
          <a:p>
            <a:pPr marL="0" indent="0">
              <a:buNone/>
            </a:pPr>
            <a:r>
              <a:rPr lang="en-US" sz="2000" b="1" dirty="0">
                <a:solidFill>
                  <a:srgbClr val="F5A623"/>
                </a:solidFill>
                <a:latin typeface="Calibri" pitchFamily="34" charset="0"/>
                <a:ea typeface="Calibri" pitchFamily="34" charset="-122"/>
                <a:cs typeface="Calibri" pitchFamily="34" charset="-120"/>
              </a:rPr>
              <a:t>13 Months</a:t>
            </a:r>
            <a:endParaRPr lang="en-US" sz="2000" dirty="0"/>
          </a:p>
        </p:txBody>
      </p:sp>
      <p:sp>
        <p:nvSpPr>
          <p:cNvPr id="19" name="Text 17"/>
          <p:cNvSpPr/>
          <p:nvPr/>
        </p:nvSpPr>
        <p:spPr>
          <a:xfrm>
            <a:off x="6355080" y="2770632"/>
            <a:ext cx="237744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Time Period</a:t>
            </a:r>
            <a:endParaRPr lang="en-US" sz="1000" dirty="0"/>
          </a:p>
        </p:txBody>
      </p:sp>
      <p:sp>
        <p:nvSpPr>
          <p:cNvPr id="20" name="Shape 18"/>
          <p:cNvSpPr/>
          <p:nvPr/>
        </p:nvSpPr>
        <p:spPr>
          <a:xfrm>
            <a:off x="6217920" y="3200400"/>
            <a:ext cx="2651760" cy="658368"/>
          </a:xfrm>
          <a:prstGeom prst="rect">
            <a:avLst/>
          </a:prstGeom>
          <a:solidFill>
            <a:srgbClr val="132038"/>
          </a:solidFill>
          <a:ln w="12700">
            <a:solidFill>
              <a:srgbClr val="1E3558"/>
            </a:solidFill>
            <a:prstDash val="solid"/>
          </a:ln>
        </p:spPr>
      </p:sp>
      <p:sp>
        <p:nvSpPr>
          <p:cNvPr id="21" name="Text 19"/>
          <p:cNvSpPr/>
          <p:nvPr/>
        </p:nvSpPr>
        <p:spPr>
          <a:xfrm>
            <a:off x="6355080" y="3236976"/>
            <a:ext cx="2377440" cy="320040"/>
          </a:xfrm>
          <a:prstGeom prst="rect">
            <a:avLst/>
          </a:prstGeom>
          <a:noFill/>
          <a:ln/>
        </p:spPr>
        <p:txBody>
          <a:bodyPr wrap="square" lIns="0" tIns="0" rIns="0" bIns="0" rtlCol="0" anchor="ctr"/>
          <a:lstStyle/>
          <a:p>
            <a:pPr marL="0" indent="0">
              <a:buNone/>
            </a:pPr>
            <a:r>
              <a:rPr lang="en-US" sz="2000" b="1" dirty="0">
                <a:solidFill>
                  <a:srgbClr val="F5A623"/>
                </a:solidFill>
                <a:latin typeface="Calibri" pitchFamily="34" charset="0"/>
                <a:ea typeface="Calibri" pitchFamily="34" charset="-122"/>
                <a:cs typeface="Calibri" pitchFamily="34" charset="-120"/>
              </a:rPr>
              <a:t>5 Products</a:t>
            </a:r>
            <a:endParaRPr lang="en-US" sz="2000" dirty="0"/>
          </a:p>
        </p:txBody>
      </p:sp>
      <p:sp>
        <p:nvSpPr>
          <p:cNvPr id="22" name="Text 20"/>
          <p:cNvSpPr/>
          <p:nvPr/>
        </p:nvSpPr>
        <p:spPr>
          <a:xfrm>
            <a:off x="6355080" y="3547872"/>
            <a:ext cx="237744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Categories</a:t>
            </a:r>
            <a:endParaRPr lang="en-US" sz="1000" dirty="0"/>
          </a:p>
        </p:txBody>
      </p:sp>
      <p:sp>
        <p:nvSpPr>
          <p:cNvPr id="23" name="Shape 21"/>
          <p:cNvSpPr/>
          <p:nvPr/>
        </p:nvSpPr>
        <p:spPr>
          <a:xfrm>
            <a:off x="6217920" y="3977640"/>
            <a:ext cx="2651760" cy="658368"/>
          </a:xfrm>
          <a:prstGeom prst="rect">
            <a:avLst/>
          </a:prstGeom>
          <a:solidFill>
            <a:srgbClr val="132038"/>
          </a:solidFill>
          <a:ln w="12700">
            <a:solidFill>
              <a:srgbClr val="1E3558"/>
            </a:solidFill>
            <a:prstDash val="solid"/>
          </a:ln>
        </p:spPr>
      </p:sp>
      <p:sp>
        <p:nvSpPr>
          <p:cNvPr id="24" name="Text 22"/>
          <p:cNvSpPr/>
          <p:nvPr/>
        </p:nvSpPr>
        <p:spPr>
          <a:xfrm>
            <a:off x="6355080" y="4014216"/>
            <a:ext cx="2377440" cy="320040"/>
          </a:xfrm>
          <a:prstGeom prst="rect">
            <a:avLst/>
          </a:prstGeom>
          <a:noFill/>
          <a:ln/>
        </p:spPr>
        <p:txBody>
          <a:bodyPr wrap="square" lIns="0" tIns="0" rIns="0" bIns="0" rtlCol="0" anchor="ctr"/>
          <a:lstStyle/>
          <a:p>
            <a:pPr marL="0" indent="0">
              <a:buNone/>
            </a:pPr>
            <a:r>
              <a:rPr lang="en-US" sz="2000" b="1" dirty="0">
                <a:solidFill>
                  <a:srgbClr val="F5A623"/>
                </a:solidFill>
                <a:latin typeface="Calibri" pitchFamily="34" charset="0"/>
                <a:ea typeface="Calibri" pitchFamily="34" charset="-122"/>
                <a:cs typeface="Calibri" pitchFamily="34" charset="-120"/>
              </a:rPr>
              <a:t>Kaggle</a:t>
            </a:r>
            <a:endParaRPr lang="en-US" sz="2000" dirty="0"/>
          </a:p>
        </p:txBody>
      </p:sp>
      <p:sp>
        <p:nvSpPr>
          <p:cNvPr id="25" name="Text 23"/>
          <p:cNvSpPr/>
          <p:nvPr/>
        </p:nvSpPr>
        <p:spPr>
          <a:xfrm>
            <a:off x="6355080" y="4325112"/>
            <a:ext cx="237744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Data Source</a:t>
            </a:r>
            <a:endParaRPr lang="en-US" sz="1000" dirty="0"/>
          </a:p>
        </p:txBody>
      </p:sp>
      <p:sp>
        <p:nvSpPr>
          <p:cNvPr id="26" name="Text 24"/>
          <p:cNvSpPr/>
          <p:nvPr/>
        </p:nvSpPr>
        <p:spPr>
          <a:xfrm>
            <a:off x="731520" y="4663440"/>
            <a:ext cx="502920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Prepared for Academic Presentation  •  2024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About the Dataset</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Source, context, and key variables</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sp>
        <p:nvSpPr>
          <p:cNvPr id="8" name="Text 6"/>
          <p:cNvSpPr/>
          <p:nvPr/>
        </p:nvSpPr>
        <p:spPr>
          <a:xfrm>
            <a:off x="457200" y="1005840"/>
            <a:ext cx="8229600" cy="274320"/>
          </a:xfrm>
          <a:prstGeom prst="rect">
            <a:avLst/>
          </a:prstGeom>
          <a:noFill/>
          <a:ln/>
        </p:spPr>
        <p:txBody>
          <a:bodyPr wrap="square" lIns="0" tIns="0" rIns="0" bIns="0" rtlCol="0" anchor="ctr"/>
          <a:lstStyle/>
          <a:p>
            <a:pPr marL="0" indent="0">
              <a:buNone/>
            </a:pPr>
            <a:r>
              <a:rPr lang="en-US" sz="1300" dirty="0">
                <a:solidFill>
                  <a:srgbClr val="8B9AB5"/>
                </a:solidFill>
                <a:latin typeface="Calibri" pitchFamily="34" charset="0"/>
                <a:ea typeface="Calibri" pitchFamily="34" charset="-122"/>
                <a:cs typeface="Calibri" pitchFamily="34" charset="-120"/>
              </a:rPr>
              <a:t>This dataset was sourced from</a:t>
            </a:r>
            <a:endParaRPr lang="en-US" sz="1300" dirty="0"/>
          </a:p>
        </p:txBody>
      </p:sp>
      <p:sp>
        <p:nvSpPr>
          <p:cNvPr id="9" name="Text 7"/>
          <p:cNvSpPr/>
          <p:nvPr/>
        </p:nvSpPr>
        <p:spPr>
          <a:xfrm>
            <a:off x="457200" y="1280160"/>
            <a:ext cx="8229600" cy="365760"/>
          </a:xfrm>
          <a:prstGeom prst="rect">
            <a:avLst/>
          </a:prstGeom>
          <a:noFill/>
          <a:ln/>
        </p:spPr>
        <p:txBody>
          <a:bodyPr wrap="square" lIns="0" tIns="0" rIns="0" bIns="0" rtlCol="0" anchor="ctr"/>
          <a:lstStyle/>
          <a:p>
            <a:pPr marL="0" indent="0">
              <a:buNone/>
            </a:pPr>
            <a:r>
              <a:rPr lang="en-US" sz="1700" b="1" dirty="0">
                <a:solidFill>
                  <a:srgbClr val="00C2CB"/>
                </a:solidFill>
                <a:latin typeface="Calibri" pitchFamily="34" charset="0"/>
                <a:ea typeface="Calibri" pitchFamily="34" charset="-122"/>
                <a:cs typeface="Calibri" pitchFamily="34" charset="-120"/>
              </a:rPr>
              <a:t>Kaggle — Electronics Sales (Sep 2023 – Sep 2024)</a:t>
            </a:r>
            <a:endParaRPr lang="en-US" sz="1700" dirty="0"/>
          </a:p>
        </p:txBody>
      </p:sp>
      <p:sp>
        <p:nvSpPr>
          <p:cNvPr id="10" name="Shape 8"/>
          <p:cNvSpPr/>
          <p:nvPr/>
        </p:nvSpPr>
        <p:spPr>
          <a:xfrm>
            <a:off x="365760" y="1828800"/>
            <a:ext cx="1965960" cy="27432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1" name="Shape 9"/>
          <p:cNvSpPr/>
          <p:nvPr/>
        </p:nvSpPr>
        <p:spPr>
          <a:xfrm>
            <a:off x="365760" y="1828800"/>
            <a:ext cx="1965960" cy="73152"/>
          </a:xfrm>
          <a:prstGeom prst="rect">
            <a:avLst/>
          </a:prstGeom>
          <a:solidFill>
            <a:srgbClr val="00C2CB"/>
          </a:solidFill>
          <a:ln w="12700">
            <a:solidFill>
              <a:srgbClr val="00C2CB"/>
            </a:solidFill>
            <a:prstDash val="solid"/>
          </a:ln>
        </p:spPr>
      </p:sp>
      <p:sp>
        <p:nvSpPr>
          <p:cNvPr id="12" name="Text 10"/>
          <p:cNvSpPr/>
          <p:nvPr/>
        </p:nvSpPr>
        <p:spPr>
          <a:xfrm>
            <a:off x="475488" y="1938528"/>
            <a:ext cx="1737360" cy="274320"/>
          </a:xfrm>
          <a:prstGeom prst="rect">
            <a:avLst/>
          </a:prstGeom>
          <a:noFill/>
          <a:ln/>
        </p:spPr>
        <p:txBody>
          <a:bodyPr wrap="square" lIns="0" tIns="0" rIns="0" bIns="0" rtlCol="0" anchor="ctr"/>
          <a:lstStyle/>
          <a:p>
            <a:pPr marL="0" indent="0">
              <a:buNone/>
            </a:pPr>
            <a:r>
              <a:rPr lang="en-US" sz="1100" b="1" dirty="0">
                <a:solidFill>
                  <a:srgbClr val="00C2CB"/>
                </a:solidFill>
                <a:latin typeface="Calibri" pitchFamily="34" charset="0"/>
                <a:ea typeface="Calibri" pitchFamily="34" charset="-122"/>
                <a:cs typeface="Calibri" pitchFamily="34" charset="-120"/>
              </a:rPr>
              <a:t>Customer Info</a:t>
            </a:r>
            <a:endParaRPr lang="en-US" sz="1100" dirty="0"/>
          </a:p>
        </p:txBody>
      </p:sp>
      <p:sp>
        <p:nvSpPr>
          <p:cNvPr id="13" name="Shape 11"/>
          <p:cNvSpPr/>
          <p:nvPr/>
        </p:nvSpPr>
        <p:spPr>
          <a:xfrm>
            <a:off x="475488" y="2350008"/>
            <a:ext cx="64008" cy="64008"/>
          </a:xfrm>
          <a:prstGeom prst="rect">
            <a:avLst/>
          </a:prstGeom>
          <a:solidFill>
            <a:srgbClr val="00C2CB"/>
          </a:solidFill>
          <a:ln w="12700">
            <a:solidFill>
              <a:srgbClr val="00C2CB"/>
            </a:solidFill>
            <a:prstDash val="solid"/>
          </a:ln>
        </p:spPr>
      </p:sp>
      <p:sp>
        <p:nvSpPr>
          <p:cNvPr id="14" name="Text 12"/>
          <p:cNvSpPr/>
          <p:nvPr/>
        </p:nvSpPr>
        <p:spPr>
          <a:xfrm>
            <a:off x="603504" y="2304288"/>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Customer ID (unique)</a:t>
            </a:r>
            <a:endParaRPr lang="en-US" sz="1000" dirty="0"/>
          </a:p>
        </p:txBody>
      </p:sp>
      <p:sp>
        <p:nvSpPr>
          <p:cNvPr id="15" name="Shape 13"/>
          <p:cNvSpPr/>
          <p:nvPr/>
        </p:nvSpPr>
        <p:spPr>
          <a:xfrm>
            <a:off x="475488" y="2825496"/>
            <a:ext cx="64008" cy="64008"/>
          </a:xfrm>
          <a:prstGeom prst="rect">
            <a:avLst/>
          </a:prstGeom>
          <a:solidFill>
            <a:srgbClr val="00C2CB"/>
          </a:solidFill>
          <a:ln w="12700">
            <a:solidFill>
              <a:srgbClr val="00C2CB"/>
            </a:solidFill>
            <a:prstDash val="solid"/>
          </a:ln>
        </p:spPr>
      </p:sp>
      <p:sp>
        <p:nvSpPr>
          <p:cNvPr id="16" name="Text 14"/>
          <p:cNvSpPr/>
          <p:nvPr/>
        </p:nvSpPr>
        <p:spPr>
          <a:xfrm>
            <a:off x="603504" y="2779776"/>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Age (numeric)</a:t>
            </a:r>
            <a:endParaRPr lang="en-US" sz="1000" dirty="0"/>
          </a:p>
        </p:txBody>
      </p:sp>
      <p:sp>
        <p:nvSpPr>
          <p:cNvPr id="17" name="Shape 15"/>
          <p:cNvSpPr/>
          <p:nvPr/>
        </p:nvSpPr>
        <p:spPr>
          <a:xfrm>
            <a:off x="475488" y="3300984"/>
            <a:ext cx="64008" cy="64008"/>
          </a:xfrm>
          <a:prstGeom prst="rect">
            <a:avLst/>
          </a:prstGeom>
          <a:solidFill>
            <a:srgbClr val="00C2CB"/>
          </a:solidFill>
          <a:ln w="12700">
            <a:solidFill>
              <a:srgbClr val="00C2CB"/>
            </a:solidFill>
            <a:prstDash val="solid"/>
          </a:ln>
        </p:spPr>
      </p:sp>
      <p:sp>
        <p:nvSpPr>
          <p:cNvPr id="18" name="Text 16"/>
          <p:cNvSpPr/>
          <p:nvPr/>
        </p:nvSpPr>
        <p:spPr>
          <a:xfrm>
            <a:off x="603504" y="3255264"/>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Gender (M/F)</a:t>
            </a:r>
            <a:endParaRPr lang="en-US" sz="1000" dirty="0"/>
          </a:p>
        </p:txBody>
      </p:sp>
      <p:sp>
        <p:nvSpPr>
          <p:cNvPr id="19" name="Shape 17"/>
          <p:cNvSpPr/>
          <p:nvPr/>
        </p:nvSpPr>
        <p:spPr>
          <a:xfrm>
            <a:off x="475488" y="3776472"/>
            <a:ext cx="64008" cy="64008"/>
          </a:xfrm>
          <a:prstGeom prst="rect">
            <a:avLst/>
          </a:prstGeom>
          <a:solidFill>
            <a:srgbClr val="00C2CB"/>
          </a:solidFill>
          <a:ln w="12700">
            <a:solidFill>
              <a:srgbClr val="00C2CB"/>
            </a:solidFill>
            <a:prstDash val="solid"/>
          </a:ln>
        </p:spPr>
      </p:sp>
      <p:sp>
        <p:nvSpPr>
          <p:cNvPr id="20" name="Text 18"/>
          <p:cNvSpPr/>
          <p:nvPr/>
        </p:nvSpPr>
        <p:spPr>
          <a:xfrm>
            <a:off x="603504" y="3730752"/>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Loyalty Member (Yes/No)</a:t>
            </a:r>
            <a:endParaRPr lang="en-US" sz="1000" dirty="0"/>
          </a:p>
        </p:txBody>
      </p:sp>
      <p:sp>
        <p:nvSpPr>
          <p:cNvPr id="21" name="Shape 19"/>
          <p:cNvSpPr/>
          <p:nvPr/>
        </p:nvSpPr>
        <p:spPr>
          <a:xfrm>
            <a:off x="2514600" y="1828800"/>
            <a:ext cx="1965960" cy="27432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2" name="Shape 20"/>
          <p:cNvSpPr/>
          <p:nvPr/>
        </p:nvSpPr>
        <p:spPr>
          <a:xfrm>
            <a:off x="2514600" y="1828800"/>
            <a:ext cx="1965960" cy="73152"/>
          </a:xfrm>
          <a:prstGeom prst="rect">
            <a:avLst/>
          </a:prstGeom>
          <a:solidFill>
            <a:srgbClr val="F5A623"/>
          </a:solidFill>
          <a:ln w="12700">
            <a:solidFill>
              <a:srgbClr val="F5A623"/>
            </a:solidFill>
            <a:prstDash val="solid"/>
          </a:ln>
        </p:spPr>
      </p:sp>
      <p:sp>
        <p:nvSpPr>
          <p:cNvPr id="23" name="Text 21"/>
          <p:cNvSpPr/>
          <p:nvPr/>
        </p:nvSpPr>
        <p:spPr>
          <a:xfrm>
            <a:off x="2624328" y="1938528"/>
            <a:ext cx="1737360" cy="274320"/>
          </a:xfrm>
          <a:prstGeom prst="rect">
            <a:avLst/>
          </a:prstGeom>
          <a:noFill/>
          <a:ln/>
        </p:spPr>
        <p:txBody>
          <a:bodyPr wrap="square" lIns="0" tIns="0" rIns="0" bIns="0" rtlCol="0" anchor="ctr"/>
          <a:lstStyle/>
          <a:p>
            <a:pPr marL="0" indent="0">
              <a:buNone/>
            </a:pPr>
            <a:r>
              <a:rPr lang="en-US" sz="1100" b="1" dirty="0">
                <a:solidFill>
                  <a:srgbClr val="F5A623"/>
                </a:solidFill>
                <a:latin typeface="Calibri" pitchFamily="34" charset="0"/>
                <a:ea typeface="Calibri" pitchFamily="34" charset="-122"/>
                <a:cs typeface="Calibri" pitchFamily="34" charset="-120"/>
              </a:rPr>
              <a:t>Product Details</a:t>
            </a:r>
            <a:endParaRPr lang="en-US" sz="1100" dirty="0"/>
          </a:p>
        </p:txBody>
      </p:sp>
      <p:sp>
        <p:nvSpPr>
          <p:cNvPr id="24" name="Shape 22"/>
          <p:cNvSpPr/>
          <p:nvPr/>
        </p:nvSpPr>
        <p:spPr>
          <a:xfrm>
            <a:off x="2624328" y="2350008"/>
            <a:ext cx="64008" cy="64008"/>
          </a:xfrm>
          <a:prstGeom prst="rect">
            <a:avLst/>
          </a:prstGeom>
          <a:solidFill>
            <a:srgbClr val="F5A623"/>
          </a:solidFill>
          <a:ln w="12700">
            <a:solidFill>
              <a:srgbClr val="F5A623"/>
            </a:solidFill>
            <a:prstDash val="solid"/>
          </a:ln>
        </p:spPr>
      </p:sp>
      <p:sp>
        <p:nvSpPr>
          <p:cNvPr id="25" name="Text 23"/>
          <p:cNvSpPr/>
          <p:nvPr/>
        </p:nvSpPr>
        <p:spPr>
          <a:xfrm>
            <a:off x="2752344" y="2304288"/>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Product Type</a:t>
            </a:r>
            <a:endParaRPr lang="en-US" sz="1000" dirty="0"/>
          </a:p>
        </p:txBody>
      </p:sp>
      <p:sp>
        <p:nvSpPr>
          <p:cNvPr id="26" name="Shape 24"/>
          <p:cNvSpPr/>
          <p:nvPr/>
        </p:nvSpPr>
        <p:spPr>
          <a:xfrm>
            <a:off x="2624328" y="2825496"/>
            <a:ext cx="64008" cy="64008"/>
          </a:xfrm>
          <a:prstGeom prst="rect">
            <a:avLst/>
          </a:prstGeom>
          <a:solidFill>
            <a:srgbClr val="F5A623"/>
          </a:solidFill>
          <a:ln w="12700">
            <a:solidFill>
              <a:srgbClr val="F5A623"/>
            </a:solidFill>
            <a:prstDash val="solid"/>
          </a:ln>
        </p:spPr>
      </p:sp>
      <p:sp>
        <p:nvSpPr>
          <p:cNvPr id="27" name="Text 25"/>
          <p:cNvSpPr/>
          <p:nvPr/>
        </p:nvSpPr>
        <p:spPr>
          <a:xfrm>
            <a:off x="2752344" y="2779776"/>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SKU (unique code)</a:t>
            </a:r>
            <a:endParaRPr lang="en-US" sz="1000" dirty="0"/>
          </a:p>
        </p:txBody>
      </p:sp>
      <p:sp>
        <p:nvSpPr>
          <p:cNvPr id="28" name="Shape 26"/>
          <p:cNvSpPr/>
          <p:nvPr/>
        </p:nvSpPr>
        <p:spPr>
          <a:xfrm>
            <a:off x="2624328" y="3300984"/>
            <a:ext cx="64008" cy="64008"/>
          </a:xfrm>
          <a:prstGeom prst="rect">
            <a:avLst/>
          </a:prstGeom>
          <a:solidFill>
            <a:srgbClr val="F5A623"/>
          </a:solidFill>
          <a:ln w="12700">
            <a:solidFill>
              <a:srgbClr val="F5A623"/>
            </a:solidFill>
            <a:prstDash val="solid"/>
          </a:ln>
        </p:spPr>
      </p:sp>
      <p:sp>
        <p:nvSpPr>
          <p:cNvPr id="29" name="Text 27"/>
          <p:cNvSpPr/>
          <p:nvPr/>
        </p:nvSpPr>
        <p:spPr>
          <a:xfrm>
            <a:off x="2752344" y="3255264"/>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Unit Price</a:t>
            </a:r>
            <a:endParaRPr lang="en-US" sz="1000" dirty="0"/>
          </a:p>
        </p:txBody>
      </p:sp>
      <p:sp>
        <p:nvSpPr>
          <p:cNvPr id="30" name="Shape 28"/>
          <p:cNvSpPr/>
          <p:nvPr/>
        </p:nvSpPr>
        <p:spPr>
          <a:xfrm>
            <a:off x="2624328" y="3776472"/>
            <a:ext cx="64008" cy="64008"/>
          </a:xfrm>
          <a:prstGeom prst="rect">
            <a:avLst/>
          </a:prstGeom>
          <a:solidFill>
            <a:srgbClr val="F5A623"/>
          </a:solidFill>
          <a:ln w="12700">
            <a:solidFill>
              <a:srgbClr val="F5A623"/>
            </a:solidFill>
            <a:prstDash val="solid"/>
          </a:ln>
        </p:spPr>
      </p:sp>
      <p:sp>
        <p:nvSpPr>
          <p:cNvPr id="31" name="Text 29"/>
          <p:cNvSpPr/>
          <p:nvPr/>
        </p:nvSpPr>
        <p:spPr>
          <a:xfrm>
            <a:off x="2752344" y="3730752"/>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Quantity</a:t>
            </a:r>
            <a:endParaRPr lang="en-US" sz="1000" dirty="0"/>
          </a:p>
        </p:txBody>
      </p:sp>
      <p:sp>
        <p:nvSpPr>
          <p:cNvPr id="32" name="Shape 30"/>
          <p:cNvSpPr/>
          <p:nvPr/>
        </p:nvSpPr>
        <p:spPr>
          <a:xfrm>
            <a:off x="4663440" y="1828800"/>
            <a:ext cx="1965960" cy="27432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33" name="Shape 31"/>
          <p:cNvSpPr/>
          <p:nvPr/>
        </p:nvSpPr>
        <p:spPr>
          <a:xfrm>
            <a:off x="4663440" y="1828800"/>
            <a:ext cx="1965960" cy="73152"/>
          </a:xfrm>
          <a:prstGeom prst="rect">
            <a:avLst/>
          </a:prstGeom>
          <a:solidFill>
            <a:srgbClr val="2ECC97"/>
          </a:solidFill>
          <a:ln w="12700">
            <a:solidFill>
              <a:srgbClr val="2ECC97"/>
            </a:solidFill>
            <a:prstDash val="solid"/>
          </a:ln>
        </p:spPr>
      </p:sp>
      <p:sp>
        <p:nvSpPr>
          <p:cNvPr id="34" name="Text 32"/>
          <p:cNvSpPr/>
          <p:nvPr/>
        </p:nvSpPr>
        <p:spPr>
          <a:xfrm>
            <a:off x="4773168" y="1938528"/>
            <a:ext cx="1737360" cy="274320"/>
          </a:xfrm>
          <a:prstGeom prst="rect">
            <a:avLst/>
          </a:prstGeom>
          <a:noFill/>
          <a:ln/>
        </p:spPr>
        <p:txBody>
          <a:bodyPr wrap="square" lIns="0" tIns="0" rIns="0" bIns="0" rtlCol="0" anchor="ctr"/>
          <a:lstStyle/>
          <a:p>
            <a:pPr marL="0" indent="0">
              <a:buNone/>
            </a:pPr>
            <a:r>
              <a:rPr lang="en-US" sz="1100" b="1" dirty="0">
                <a:solidFill>
                  <a:srgbClr val="2ECC97"/>
                </a:solidFill>
                <a:latin typeface="Calibri" pitchFamily="34" charset="0"/>
                <a:ea typeface="Calibri" pitchFamily="34" charset="-122"/>
                <a:cs typeface="Calibri" pitchFamily="34" charset="-120"/>
              </a:rPr>
              <a:t>Transaction</a:t>
            </a:r>
            <a:endParaRPr lang="en-US" sz="1100" dirty="0"/>
          </a:p>
        </p:txBody>
      </p:sp>
      <p:sp>
        <p:nvSpPr>
          <p:cNvPr id="35" name="Shape 33"/>
          <p:cNvSpPr/>
          <p:nvPr/>
        </p:nvSpPr>
        <p:spPr>
          <a:xfrm>
            <a:off x="4773168" y="2350008"/>
            <a:ext cx="64008" cy="64008"/>
          </a:xfrm>
          <a:prstGeom prst="rect">
            <a:avLst/>
          </a:prstGeom>
          <a:solidFill>
            <a:srgbClr val="2ECC97"/>
          </a:solidFill>
          <a:ln w="12700">
            <a:solidFill>
              <a:srgbClr val="2ECC97"/>
            </a:solidFill>
            <a:prstDash val="solid"/>
          </a:ln>
        </p:spPr>
      </p:sp>
      <p:sp>
        <p:nvSpPr>
          <p:cNvPr id="36" name="Text 34"/>
          <p:cNvSpPr/>
          <p:nvPr/>
        </p:nvSpPr>
        <p:spPr>
          <a:xfrm>
            <a:off x="4901184" y="2304288"/>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Total Price</a:t>
            </a:r>
            <a:endParaRPr lang="en-US" sz="1000" dirty="0"/>
          </a:p>
        </p:txBody>
      </p:sp>
      <p:sp>
        <p:nvSpPr>
          <p:cNvPr id="37" name="Shape 35"/>
          <p:cNvSpPr/>
          <p:nvPr/>
        </p:nvSpPr>
        <p:spPr>
          <a:xfrm>
            <a:off x="4773168" y="2825496"/>
            <a:ext cx="64008" cy="64008"/>
          </a:xfrm>
          <a:prstGeom prst="rect">
            <a:avLst/>
          </a:prstGeom>
          <a:solidFill>
            <a:srgbClr val="2ECC97"/>
          </a:solidFill>
          <a:ln w="12700">
            <a:solidFill>
              <a:srgbClr val="2ECC97"/>
            </a:solidFill>
            <a:prstDash val="solid"/>
          </a:ln>
        </p:spPr>
      </p:sp>
      <p:sp>
        <p:nvSpPr>
          <p:cNvPr id="38" name="Text 36"/>
          <p:cNvSpPr/>
          <p:nvPr/>
        </p:nvSpPr>
        <p:spPr>
          <a:xfrm>
            <a:off x="4901184" y="2779776"/>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Payment Method</a:t>
            </a:r>
            <a:endParaRPr lang="en-US" sz="1000" dirty="0"/>
          </a:p>
        </p:txBody>
      </p:sp>
      <p:sp>
        <p:nvSpPr>
          <p:cNvPr id="39" name="Shape 37"/>
          <p:cNvSpPr/>
          <p:nvPr/>
        </p:nvSpPr>
        <p:spPr>
          <a:xfrm>
            <a:off x="4773168" y="3300984"/>
            <a:ext cx="64008" cy="64008"/>
          </a:xfrm>
          <a:prstGeom prst="rect">
            <a:avLst/>
          </a:prstGeom>
          <a:solidFill>
            <a:srgbClr val="2ECC97"/>
          </a:solidFill>
          <a:ln w="12700">
            <a:solidFill>
              <a:srgbClr val="2ECC97"/>
            </a:solidFill>
            <a:prstDash val="solid"/>
          </a:ln>
        </p:spPr>
      </p:sp>
      <p:sp>
        <p:nvSpPr>
          <p:cNvPr id="40" name="Text 38"/>
          <p:cNvSpPr/>
          <p:nvPr/>
        </p:nvSpPr>
        <p:spPr>
          <a:xfrm>
            <a:off x="4901184" y="3255264"/>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Purchase Date</a:t>
            </a:r>
            <a:endParaRPr lang="en-US" sz="1000" dirty="0"/>
          </a:p>
        </p:txBody>
      </p:sp>
      <p:sp>
        <p:nvSpPr>
          <p:cNvPr id="41" name="Shape 39"/>
          <p:cNvSpPr/>
          <p:nvPr/>
        </p:nvSpPr>
        <p:spPr>
          <a:xfrm>
            <a:off x="4773168" y="3776472"/>
            <a:ext cx="64008" cy="64008"/>
          </a:xfrm>
          <a:prstGeom prst="rect">
            <a:avLst/>
          </a:prstGeom>
          <a:solidFill>
            <a:srgbClr val="2ECC97"/>
          </a:solidFill>
          <a:ln w="12700">
            <a:solidFill>
              <a:srgbClr val="2ECC97"/>
            </a:solidFill>
            <a:prstDash val="solid"/>
          </a:ln>
        </p:spPr>
      </p:sp>
      <p:sp>
        <p:nvSpPr>
          <p:cNvPr id="42" name="Text 40"/>
          <p:cNvSpPr/>
          <p:nvPr/>
        </p:nvSpPr>
        <p:spPr>
          <a:xfrm>
            <a:off x="4901184" y="3730752"/>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Order Status</a:t>
            </a:r>
            <a:endParaRPr lang="en-US" sz="1000" dirty="0"/>
          </a:p>
        </p:txBody>
      </p:sp>
      <p:sp>
        <p:nvSpPr>
          <p:cNvPr id="43" name="Shape 41"/>
          <p:cNvSpPr/>
          <p:nvPr/>
        </p:nvSpPr>
        <p:spPr>
          <a:xfrm>
            <a:off x="6812280" y="1828800"/>
            <a:ext cx="1965960" cy="27432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44" name="Shape 42"/>
          <p:cNvSpPr/>
          <p:nvPr/>
        </p:nvSpPr>
        <p:spPr>
          <a:xfrm>
            <a:off x="6812280" y="1828800"/>
            <a:ext cx="1965960" cy="73152"/>
          </a:xfrm>
          <a:prstGeom prst="rect">
            <a:avLst/>
          </a:prstGeom>
          <a:solidFill>
            <a:srgbClr val="1D6FA4"/>
          </a:solidFill>
          <a:ln w="12700">
            <a:solidFill>
              <a:srgbClr val="1D6FA4"/>
            </a:solidFill>
            <a:prstDash val="solid"/>
          </a:ln>
        </p:spPr>
      </p:sp>
      <p:sp>
        <p:nvSpPr>
          <p:cNvPr id="45" name="Text 43"/>
          <p:cNvSpPr/>
          <p:nvPr/>
        </p:nvSpPr>
        <p:spPr>
          <a:xfrm>
            <a:off x="6922008" y="1938528"/>
            <a:ext cx="1737360" cy="274320"/>
          </a:xfrm>
          <a:prstGeom prst="rect">
            <a:avLst/>
          </a:prstGeom>
          <a:noFill/>
          <a:ln/>
        </p:spPr>
        <p:txBody>
          <a:bodyPr wrap="square" lIns="0" tIns="0" rIns="0" bIns="0" rtlCol="0" anchor="ctr"/>
          <a:lstStyle/>
          <a:p>
            <a:pPr marL="0" indent="0">
              <a:buNone/>
            </a:pPr>
            <a:r>
              <a:rPr lang="en-US" sz="1100" b="1" dirty="0">
                <a:solidFill>
                  <a:srgbClr val="1D6FA4"/>
                </a:solidFill>
                <a:latin typeface="Calibri" pitchFamily="34" charset="0"/>
                <a:ea typeface="Calibri" pitchFamily="34" charset="-122"/>
                <a:cs typeface="Calibri" pitchFamily="34" charset="-120"/>
              </a:rPr>
              <a:t>Fulfillment</a:t>
            </a:r>
            <a:endParaRPr lang="en-US" sz="1100" dirty="0"/>
          </a:p>
        </p:txBody>
      </p:sp>
      <p:sp>
        <p:nvSpPr>
          <p:cNvPr id="46" name="Shape 44"/>
          <p:cNvSpPr/>
          <p:nvPr/>
        </p:nvSpPr>
        <p:spPr>
          <a:xfrm>
            <a:off x="6922008" y="2350008"/>
            <a:ext cx="64008" cy="64008"/>
          </a:xfrm>
          <a:prstGeom prst="rect">
            <a:avLst/>
          </a:prstGeom>
          <a:solidFill>
            <a:srgbClr val="1D6FA4"/>
          </a:solidFill>
          <a:ln w="12700">
            <a:solidFill>
              <a:srgbClr val="1D6FA4"/>
            </a:solidFill>
            <a:prstDash val="solid"/>
          </a:ln>
        </p:spPr>
      </p:sp>
      <p:sp>
        <p:nvSpPr>
          <p:cNvPr id="47" name="Text 45"/>
          <p:cNvSpPr/>
          <p:nvPr/>
        </p:nvSpPr>
        <p:spPr>
          <a:xfrm>
            <a:off x="7050024" y="2304288"/>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Shipping Type</a:t>
            </a:r>
            <a:endParaRPr lang="en-US" sz="1000" dirty="0"/>
          </a:p>
        </p:txBody>
      </p:sp>
      <p:sp>
        <p:nvSpPr>
          <p:cNvPr id="48" name="Shape 46"/>
          <p:cNvSpPr/>
          <p:nvPr/>
        </p:nvSpPr>
        <p:spPr>
          <a:xfrm>
            <a:off x="6922008" y="2825496"/>
            <a:ext cx="64008" cy="64008"/>
          </a:xfrm>
          <a:prstGeom prst="rect">
            <a:avLst/>
          </a:prstGeom>
          <a:solidFill>
            <a:srgbClr val="1D6FA4"/>
          </a:solidFill>
          <a:ln w="12700">
            <a:solidFill>
              <a:srgbClr val="1D6FA4"/>
            </a:solidFill>
            <a:prstDash val="solid"/>
          </a:ln>
        </p:spPr>
      </p:sp>
      <p:sp>
        <p:nvSpPr>
          <p:cNvPr id="49" name="Text 47"/>
          <p:cNvSpPr/>
          <p:nvPr/>
        </p:nvSpPr>
        <p:spPr>
          <a:xfrm>
            <a:off x="7050024" y="2779776"/>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Add-ons Purchased</a:t>
            </a:r>
            <a:endParaRPr lang="en-US" sz="1000" dirty="0"/>
          </a:p>
        </p:txBody>
      </p:sp>
      <p:sp>
        <p:nvSpPr>
          <p:cNvPr id="50" name="Shape 48"/>
          <p:cNvSpPr/>
          <p:nvPr/>
        </p:nvSpPr>
        <p:spPr>
          <a:xfrm>
            <a:off x="6922008" y="3300984"/>
            <a:ext cx="64008" cy="64008"/>
          </a:xfrm>
          <a:prstGeom prst="rect">
            <a:avLst/>
          </a:prstGeom>
          <a:solidFill>
            <a:srgbClr val="1D6FA4"/>
          </a:solidFill>
          <a:ln w="12700">
            <a:solidFill>
              <a:srgbClr val="1D6FA4"/>
            </a:solidFill>
            <a:prstDash val="solid"/>
          </a:ln>
        </p:spPr>
      </p:sp>
      <p:sp>
        <p:nvSpPr>
          <p:cNvPr id="51" name="Text 49"/>
          <p:cNvSpPr/>
          <p:nvPr/>
        </p:nvSpPr>
        <p:spPr>
          <a:xfrm>
            <a:off x="7050024" y="3255264"/>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Add-on Total</a:t>
            </a:r>
            <a:endParaRPr lang="en-US" sz="1000" dirty="0"/>
          </a:p>
        </p:txBody>
      </p:sp>
      <p:sp>
        <p:nvSpPr>
          <p:cNvPr id="52" name="Shape 50"/>
          <p:cNvSpPr/>
          <p:nvPr/>
        </p:nvSpPr>
        <p:spPr>
          <a:xfrm>
            <a:off x="6922008" y="3776472"/>
            <a:ext cx="64008" cy="64008"/>
          </a:xfrm>
          <a:prstGeom prst="rect">
            <a:avLst/>
          </a:prstGeom>
          <a:solidFill>
            <a:srgbClr val="1D6FA4"/>
          </a:solidFill>
          <a:ln w="12700">
            <a:solidFill>
              <a:srgbClr val="1D6FA4"/>
            </a:solidFill>
            <a:prstDash val="solid"/>
          </a:ln>
        </p:spPr>
      </p:sp>
      <p:sp>
        <p:nvSpPr>
          <p:cNvPr id="53" name="Text 51"/>
          <p:cNvSpPr/>
          <p:nvPr/>
        </p:nvSpPr>
        <p:spPr>
          <a:xfrm>
            <a:off x="7050024" y="3730752"/>
            <a:ext cx="1600200" cy="274320"/>
          </a:xfrm>
          <a:prstGeom prst="rect">
            <a:avLst/>
          </a:prstGeom>
          <a:noFill/>
          <a:ln/>
        </p:spPr>
        <p:txBody>
          <a:bodyPr wrap="square" lIns="0" tIns="0" rIns="0" bIns="0" rtlCol="0" anchor="ctr"/>
          <a:lstStyle/>
          <a:p>
            <a:pPr marL="0" indent="0">
              <a:buNone/>
            </a:pPr>
            <a:r>
              <a:rPr lang="en-US" sz="1000" dirty="0">
                <a:solidFill>
                  <a:srgbClr val="F0F4FF"/>
                </a:solidFill>
                <a:latin typeface="Calibri" pitchFamily="34" charset="0"/>
                <a:ea typeface="Calibri" pitchFamily="34" charset="-122"/>
                <a:cs typeface="Calibri" pitchFamily="34" charset="-120"/>
              </a:rPr>
              <a:t>Rating (1–5)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0DBC55C-CC66-49F9-9EC8-3F021D1DE6CE}"/>
              </a:ext>
            </a:extLst>
          </p:cNvPr>
          <p:cNvSpPr txBox="1"/>
          <p:nvPr/>
        </p:nvSpPr>
        <p:spPr>
          <a:xfrm>
            <a:off x="169682" y="172860"/>
            <a:ext cx="6688318" cy="3693319"/>
          </a:xfrm>
          <a:prstGeom prst="rect">
            <a:avLst/>
          </a:prstGeom>
          <a:noFill/>
        </p:spPr>
        <p:txBody>
          <a:bodyPr wrap="square">
            <a:spAutoFit/>
          </a:bodyPr>
          <a:lstStyle/>
          <a:p>
            <a:r>
              <a:rPr lang="en-US" b="1" dirty="0"/>
              <a:t>Project Overview:</a:t>
            </a:r>
          </a:p>
          <a:p>
            <a:endParaRPr lang="en-US" b="1" dirty="0"/>
          </a:p>
          <a:p>
            <a:r>
              <a:rPr lang="en-US" dirty="0"/>
              <a:t>This project focuses on analyzing electronic sales transactions using Microsoft Excel to understand customer behavior, product performance, and sales trends. The dataset used in this analysis was obtained from Kaggle and contains simulated sales data for an electronics company over a one-year period from September 2023 to September 2024.</a:t>
            </a:r>
          </a:p>
          <a:p>
            <a:r>
              <a:rPr lang="en-US" dirty="0"/>
              <a:t>The dataset includes 20,000 transaction records with detailed information about customers, product types, payment methods, shipping types, order status, and add-on purchases. Using Excel tools such as PivotTables, </a:t>
            </a:r>
            <a:r>
              <a:rPr lang="en-US" dirty="0" err="1"/>
              <a:t>PivotCharts</a:t>
            </a:r>
            <a:r>
              <a:rPr lang="en-US" dirty="0"/>
              <a:t>, slicers, and KPIs, an interactive dashboard was created to visualize key business metrics.</a:t>
            </a:r>
          </a:p>
        </p:txBody>
      </p:sp>
    </p:spTree>
    <p:extLst>
      <p:ext uri="{BB962C8B-B14F-4D97-AF65-F5344CB8AC3E}">
        <p14:creationId xmlns:p14="http://schemas.microsoft.com/office/powerpoint/2010/main" val="3674747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Monthly Revenue Trend</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Total sales volume per calendar month (Sep 2023 – Sep 2024)</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graphicFrame>
        <p:nvGraphicFramePr>
          <p:cNvPr id="8" name="Chart 0"/>
          <p:cNvGraphicFramePr/>
          <p:nvPr/>
        </p:nvGraphicFramePr>
        <p:xfrm>
          <a:off x="365760" y="1005840"/>
          <a:ext cx="841248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365760" y="4480560"/>
            <a:ext cx="8412480" cy="365760"/>
          </a:xfrm>
          <a:prstGeom prst="rect">
            <a:avLst/>
          </a:prstGeom>
          <a:solidFill>
            <a:srgbClr val="132038"/>
          </a:solidFill>
          <a:ln w="12700">
            <a:solidFill>
              <a:srgbClr val="1E3558"/>
            </a:solidFill>
            <a:prstDash val="solid"/>
          </a:ln>
        </p:spPr>
      </p:sp>
      <p:sp>
        <p:nvSpPr>
          <p:cNvPr id="10" name="Text 7"/>
          <p:cNvSpPr/>
          <p:nvPr/>
        </p:nvSpPr>
        <p:spPr>
          <a:xfrm>
            <a:off x="502920" y="4498848"/>
            <a:ext cx="8229600" cy="310896"/>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Key Insight:  Jan 2024 was the strongest month ($6.62M). Sep 2023 was a partial month ($0.48M). Revenue stabilised at ~$6.5M/month throughout mid-2024.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Product Sales Distribution</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Revenue and order share by product type</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graphicFrame>
        <p:nvGraphicFramePr>
          <p:cNvPr id="8" name="Chart 0"/>
          <p:cNvGraphicFramePr/>
          <p:nvPr/>
        </p:nvGraphicFramePr>
        <p:xfrm>
          <a:off x="274320" y="914400"/>
          <a:ext cx="4114800" cy="374904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1"/>
          <p:cNvGraphicFramePr/>
          <p:nvPr/>
        </p:nvGraphicFramePr>
        <p:xfrm>
          <a:off x="4572000" y="914400"/>
          <a:ext cx="4297680" cy="374904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Customer Gender Insights</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Purchase patterns segmented by gender</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graphicFrame>
        <p:nvGraphicFramePr>
          <p:cNvPr id="8" name="Chart 0"/>
          <p:cNvGraphicFramePr/>
          <p:nvPr/>
        </p:nvGraphicFramePr>
        <p:xfrm>
          <a:off x="274320" y="914400"/>
          <a:ext cx="36576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4389120" y="960120"/>
            <a:ext cx="4389120" cy="118872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0" name="Shape 7"/>
          <p:cNvSpPr/>
          <p:nvPr/>
        </p:nvSpPr>
        <p:spPr>
          <a:xfrm>
            <a:off x="4389120" y="960120"/>
            <a:ext cx="4389120" cy="64008"/>
          </a:xfrm>
          <a:prstGeom prst="rect">
            <a:avLst/>
          </a:prstGeom>
          <a:solidFill>
            <a:srgbClr val="1D6FA4"/>
          </a:solidFill>
          <a:ln w="12700">
            <a:solidFill>
              <a:srgbClr val="1D6FA4"/>
            </a:solidFill>
            <a:prstDash val="solid"/>
          </a:ln>
        </p:spPr>
      </p:sp>
      <p:sp>
        <p:nvSpPr>
          <p:cNvPr id="11" name="Text 8"/>
          <p:cNvSpPr/>
          <p:nvPr/>
        </p:nvSpPr>
        <p:spPr>
          <a:xfrm>
            <a:off x="4526280" y="1069848"/>
            <a:ext cx="411480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MALE CUSTOMERS</a:t>
            </a:r>
            <a:endParaRPr lang="en-US" sz="850" dirty="0"/>
          </a:p>
        </p:txBody>
      </p:sp>
      <p:sp>
        <p:nvSpPr>
          <p:cNvPr id="12" name="Text 9"/>
          <p:cNvSpPr/>
          <p:nvPr/>
        </p:nvSpPr>
        <p:spPr>
          <a:xfrm>
            <a:off x="4526280" y="1307592"/>
            <a:ext cx="4114800" cy="548640"/>
          </a:xfrm>
          <a:prstGeom prst="rect">
            <a:avLst/>
          </a:prstGeom>
          <a:noFill/>
          <a:ln/>
        </p:spPr>
        <p:txBody>
          <a:bodyPr wrap="square" lIns="0" tIns="0" rIns="0" bIns="0" rtlCol="0" anchor="ctr"/>
          <a:lstStyle/>
          <a:p>
            <a:pPr marL="0" indent="0">
              <a:buNone/>
            </a:pPr>
            <a:r>
              <a:rPr lang="en-US" sz="2800" b="1" dirty="0">
                <a:solidFill>
                  <a:srgbClr val="1D6FA4"/>
                </a:solidFill>
                <a:latin typeface="Calibri" pitchFamily="34" charset="0"/>
                <a:ea typeface="Calibri" pitchFamily="34" charset="-122"/>
                <a:cs typeface="Calibri" pitchFamily="34" charset="-120"/>
              </a:rPr>
              <a:t>10,164</a:t>
            </a:r>
            <a:endParaRPr lang="en-US" sz="2800" dirty="0"/>
          </a:p>
        </p:txBody>
      </p:sp>
      <p:sp>
        <p:nvSpPr>
          <p:cNvPr id="13" name="Text 10"/>
          <p:cNvSpPr/>
          <p:nvPr/>
        </p:nvSpPr>
        <p:spPr>
          <a:xfrm>
            <a:off x="4526280" y="1856232"/>
            <a:ext cx="411480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50.82% of all buyers</a:t>
            </a:r>
            <a:endParaRPr lang="en-US" sz="900" dirty="0"/>
          </a:p>
        </p:txBody>
      </p:sp>
      <p:sp>
        <p:nvSpPr>
          <p:cNvPr id="14" name="Shape 11"/>
          <p:cNvSpPr/>
          <p:nvPr/>
        </p:nvSpPr>
        <p:spPr>
          <a:xfrm>
            <a:off x="4389120" y="2286000"/>
            <a:ext cx="4389120" cy="118872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5" name="Shape 12"/>
          <p:cNvSpPr/>
          <p:nvPr/>
        </p:nvSpPr>
        <p:spPr>
          <a:xfrm>
            <a:off x="4389120" y="2286000"/>
            <a:ext cx="4389120" cy="64008"/>
          </a:xfrm>
          <a:prstGeom prst="rect">
            <a:avLst/>
          </a:prstGeom>
          <a:solidFill>
            <a:srgbClr val="00C2CB"/>
          </a:solidFill>
          <a:ln w="12700">
            <a:solidFill>
              <a:srgbClr val="00C2CB"/>
            </a:solidFill>
            <a:prstDash val="solid"/>
          </a:ln>
        </p:spPr>
      </p:sp>
      <p:sp>
        <p:nvSpPr>
          <p:cNvPr id="16" name="Text 13"/>
          <p:cNvSpPr/>
          <p:nvPr/>
        </p:nvSpPr>
        <p:spPr>
          <a:xfrm>
            <a:off x="4526280" y="2395728"/>
            <a:ext cx="411480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FEMALE CUSTOMERS</a:t>
            </a:r>
            <a:endParaRPr lang="en-US" sz="850" dirty="0"/>
          </a:p>
        </p:txBody>
      </p:sp>
      <p:sp>
        <p:nvSpPr>
          <p:cNvPr id="17" name="Text 14"/>
          <p:cNvSpPr/>
          <p:nvPr/>
        </p:nvSpPr>
        <p:spPr>
          <a:xfrm>
            <a:off x="4526280" y="2633472"/>
            <a:ext cx="4114800" cy="548640"/>
          </a:xfrm>
          <a:prstGeom prst="rect">
            <a:avLst/>
          </a:prstGeom>
          <a:noFill/>
          <a:ln/>
        </p:spPr>
        <p:txBody>
          <a:bodyPr wrap="square" lIns="0" tIns="0" rIns="0" bIns="0" rtlCol="0" anchor="ctr"/>
          <a:lstStyle/>
          <a:p>
            <a:pPr marL="0" indent="0">
              <a:buNone/>
            </a:pPr>
            <a:r>
              <a:rPr lang="en-US" sz="2800" b="1" dirty="0">
                <a:solidFill>
                  <a:srgbClr val="00C2CB"/>
                </a:solidFill>
                <a:latin typeface="Calibri" pitchFamily="34" charset="0"/>
                <a:ea typeface="Calibri" pitchFamily="34" charset="-122"/>
                <a:cs typeface="Calibri" pitchFamily="34" charset="-120"/>
              </a:rPr>
              <a:t>9,835</a:t>
            </a:r>
            <a:endParaRPr lang="en-US" sz="2800" dirty="0"/>
          </a:p>
        </p:txBody>
      </p:sp>
      <p:sp>
        <p:nvSpPr>
          <p:cNvPr id="18" name="Text 15"/>
          <p:cNvSpPr/>
          <p:nvPr/>
        </p:nvSpPr>
        <p:spPr>
          <a:xfrm>
            <a:off x="4526280" y="3182112"/>
            <a:ext cx="411480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49.18% of all buyers</a:t>
            </a:r>
            <a:endParaRPr lang="en-US" sz="900" dirty="0"/>
          </a:p>
        </p:txBody>
      </p:sp>
      <p:sp>
        <p:nvSpPr>
          <p:cNvPr id="19" name="Shape 16"/>
          <p:cNvSpPr/>
          <p:nvPr/>
        </p:nvSpPr>
        <p:spPr>
          <a:xfrm>
            <a:off x="4389120" y="3611880"/>
            <a:ext cx="4389120" cy="118872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0" name="Shape 17"/>
          <p:cNvSpPr/>
          <p:nvPr/>
        </p:nvSpPr>
        <p:spPr>
          <a:xfrm>
            <a:off x="4389120" y="3611880"/>
            <a:ext cx="4389120" cy="64008"/>
          </a:xfrm>
          <a:prstGeom prst="rect">
            <a:avLst/>
          </a:prstGeom>
          <a:solidFill>
            <a:srgbClr val="F5A623"/>
          </a:solidFill>
          <a:ln w="12700">
            <a:solidFill>
              <a:srgbClr val="F5A623"/>
            </a:solidFill>
            <a:prstDash val="solid"/>
          </a:ln>
        </p:spPr>
      </p:sp>
      <p:sp>
        <p:nvSpPr>
          <p:cNvPr id="21" name="Text 18"/>
          <p:cNvSpPr/>
          <p:nvPr/>
        </p:nvSpPr>
        <p:spPr>
          <a:xfrm>
            <a:off x="4526280" y="3721608"/>
            <a:ext cx="411480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ADJUSTED NOTE</a:t>
            </a:r>
            <a:endParaRPr lang="en-US" sz="850" dirty="0"/>
          </a:p>
        </p:txBody>
      </p:sp>
      <p:sp>
        <p:nvSpPr>
          <p:cNvPr id="22" name="Text 19"/>
          <p:cNvSpPr/>
          <p:nvPr/>
        </p:nvSpPr>
        <p:spPr>
          <a:xfrm>
            <a:off x="4526280" y="3959352"/>
            <a:ext cx="4114800" cy="548640"/>
          </a:xfrm>
          <a:prstGeom prst="rect">
            <a:avLst/>
          </a:prstGeom>
          <a:noFill/>
          <a:ln/>
        </p:spPr>
        <p:txBody>
          <a:bodyPr wrap="square" lIns="0" tIns="0" rIns="0" bIns="0" rtlCol="0" anchor="ctr"/>
          <a:lstStyle/>
          <a:p>
            <a:pPr marL="0" indent="0">
              <a:buNone/>
            </a:pPr>
            <a:r>
              <a:rPr lang="en-US" sz="2800" b="1" dirty="0">
                <a:solidFill>
                  <a:srgbClr val="F5A623"/>
                </a:solidFill>
                <a:latin typeface="Calibri" pitchFamily="34" charset="0"/>
                <a:ea typeface="Calibri" pitchFamily="34" charset="-122"/>
                <a:cs typeface="Calibri" pitchFamily="34" charset="-120"/>
              </a:rPr>
              <a:t>Realistic</a:t>
            </a:r>
            <a:endParaRPr lang="en-US" sz="2800" dirty="0"/>
          </a:p>
        </p:txBody>
      </p:sp>
      <p:sp>
        <p:nvSpPr>
          <p:cNvPr id="23" name="Text 20"/>
          <p:cNvSpPr/>
          <p:nvPr/>
        </p:nvSpPr>
        <p:spPr>
          <a:xfrm>
            <a:off x="4526280" y="4507992"/>
            <a:ext cx="411480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Original 50/50 was corrected</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Payment Behavior</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How customers prefer to pay for their electronics</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graphicFrame>
        <p:nvGraphicFramePr>
          <p:cNvPr id="8" name="Chart 0"/>
          <p:cNvGraphicFramePr/>
          <p:nvPr/>
        </p:nvGraphicFramePr>
        <p:xfrm>
          <a:off x="274320" y="914400"/>
          <a:ext cx="548640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6126480" y="960120"/>
            <a:ext cx="2743200" cy="777240"/>
          </a:xfrm>
          <a:prstGeom prst="rect">
            <a:avLst/>
          </a:prstGeom>
          <a:solidFill>
            <a:srgbClr val="132038"/>
          </a:solidFill>
          <a:ln w="12700">
            <a:solidFill>
              <a:srgbClr val="1E3558"/>
            </a:solidFill>
            <a:prstDash val="solid"/>
          </a:ln>
        </p:spPr>
      </p:sp>
      <p:sp>
        <p:nvSpPr>
          <p:cNvPr id="10" name="Shape 7"/>
          <p:cNvSpPr/>
          <p:nvPr/>
        </p:nvSpPr>
        <p:spPr>
          <a:xfrm>
            <a:off x="6126480" y="960120"/>
            <a:ext cx="54864" cy="777240"/>
          </a:xfrm>
          <a:prstGeom prst="rect">
            <a:avLst/>
          </a:prstGeom>
          <a:solidFill>
            <a:srgbClr val="00C2CB"/>
          </a:solidFill>
          <a:ln w="12700">
            <a:solidFill>
              <a:srgbClr val="00C2CB"/>
            </a:solidFill>
            <a:prstDash val="solid"/>
          </a:ln>
        </p:spPr>
      </p:sp>
      <p:sp>
        <p:nvSpPr>
          <p:cNvPr id="11" name="Text 8"/>
          <p:cNvSpPr/>
          <p:nvPr/>
        </p:nvSpPr>
        <p:spPr>
          <a:xfrm>
            <a:off x="6263640" y="987552"/>
            <a:ext cx="1097280" cy="365760"/>
          </a:xfrm>
          <a:prstGeom prst="rect">
            <a:avLst/>
          </a:prstGeom>
          <a:noFill/>
          <a:ln/>
        </p:spPr>
        <p:txBody>
          <a:bodyPr wrap="square" lIns="0" tIns="0" rIns="0" bIns="0" rtlCol="0" anchor="ctr"/>
          <a:lstStyle/>
          <a:p>
            <a:pPr marL="0" indent="0">
              <a:buNone/>
            </a:pPr>
            <a:r>
              <a:rPr lang="en-US" sz="2200" b="1" dirty="0">
                <a:solidFill>
                  <a:srgbClr val="00C2CB"/>
                </a:solidFill>
                <a:latin typeface="Calibri" pitchFamily="34" charset="0"/>
                <a:ea typeface="Calibri" pitchFamily="34" charset="-122"/>
                <a:cs typeface="Calibri" pitchFamily="34" charset="-120"/>
              </a:rPr>
              <a:t>41.9%</a:t>
            </a:r>
            <a:endParaRPr lang="en-US" sz="2200" dirty="0"/>
          </a:p>
        </p:txBody>
      </p:sp>
      <p:sp>
        <p:nvSpPr>
          <p:cNvPr id="12" name="Text 9"/>
          <p:cNvSpPr/>
          <p:nvPr/>
        </p:nvSpPr>
        <p:spPr>
          <a:xfrm>
            <a:off x="6263640" y="1371600"/>
            <a:ext cx="246888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Credit Card</a:t>
            </a:r>
            <a:endParaRPr lang="en-US" sz="1000" dirty="0"/>
          </a:p>
        </p:txBody>
      </p:sp>
      <p:sp>
        <p:nvSpPr>
          <p:cNvPr id="13" name="Shape 10"/>
          <p:cNvSpPr/>
          <p:nvPr/>
        </p:nvSpPr>
        <p:spPr>
          <a:xfrm>
            <a:off x="6126480" y="1874520"/>
            <a:ext cx="2743200" cy="777240"/>
          </a:xfrm>
          <a:prstGeom prst="rect">
            <a:avLst/>
          </a:prstGeom>
          <a:solidFill>
            <a:srgbClr val="132038"/>
          </a:solidFill>
          <a:ln w="12700">
            <a:solidFill>
              <a:srgbClr val="1E3558"/>
            </a:solidFill>
            <a:prstDash val="solid"/>
          </a:ln>
        </p:spPr>
      </p:sp>
      <p:sp>
        <p:nvSpPr>
          <p:cNvPr id="14" name="Shape 11"/>
          <p:cNvSpPr/>
          <p:nvPr/>
        </p:nvSpPr>
        <p:spPr>
          <a:xfrm>
            <a:off x="6126480" y="1874520"/>
            <a:ext cx="54864" cy="777240"/>
          </a:xfrm>
          <a:prstGeom prst="rect">
            <a:avLst/>
          </a:prstGeom>
          <a:solidFill>
            <a:srgbClr val="1D6FA4"/>
          </a:solidFill>
          <a:ln w="12700">
            <a:solidFill>
              <a:srgbClr val="1D6FA4"/>
            </a:solidFill>
            <a:prstDash val="solid"/>
          </a:ln>
        </p:spPr>
      </p:sp>
      <p:sp>
        <p:nvSpPr>
          <p:cNvPr id="15" name="Text 12"/>
          <p:cNvSpPr/>
          <p:nvPr/>
        </p:nvSpPr>
        <p:spPr>
          <a:xfrm>
            <a:off x="6263640" y="1901952"/>
            <a:ext cx="1097280" cy="365760"/>
          </a:xfrm>
          <a:prstGeom prst="rect">
            <a:avLst/>
          </a:prstGeom>
          <a:noFill/>
          <a:ln/>
        </p:spPr>
        <p:txBody>
          <a:bodyPr wrap="square" lIns="0" tIns="0" rIns="0" bIns="0" rtlCol="0" anchor="ctr"/>
          <a:lstStyle/>
          <a:p>
            <a:pPr marL="0" indent="0">
              <a:buNone/>
            </a:pPr>
            <a:r>
              <a:rPr lang="en-US" sz="2200" b="1" dirty="0">
                <a:solidFill>
                  <a:srgbClr val="1D6FA4"/>
                </a:solidFill>
                <a:latin typeface="Calibri" pitchFamily="34" charset="0"/>
                <a:ea typeface="Calibri" pitchFamily="34" charset="-122"/>
                <a:cs typeface="Calibri" pitchFamily="34" charset="-120"/>
              </a:rPr>
              <a:t>29.0%</a:t>
            </a:r>
            <a:endParaRPr lang="en-US" sz="2200" dirty="0"/>
          </a:p>
        </p:txBody>
      </p:sp>
      <p:sp>
        <p:nvSpPr>
          <p:cNvPr id="16" name="Text 13"/>
          <p:cNvSpPr/>
          <p:nvPr/>
        </p:nvSpPr>
        <p:spPr>
          <a:xfrm>
            <a:off x="6263640" y="2286000"/>
            <a:ext cx="246888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PayPal</a:t>
            </a:r>
            <a:endParaRPr lang="en-US" sz="1000" dirty="0"/>
          </a:p>
        </p:txBody>
      </p:sp>
      <p:sp>
        <p:nvSpPr>
          <p:cNvPr id="17" name="Shape 14"/>
          <p:cNvSpPr/>
          <p:nvPr/>
        </p:nvSpPr>
        <p:spPr>
          <a:xfrm>
            <a:off x="6126480" y="2788920"/>
            <a:ext cx="2743200" cy="777240"/>
          </a:xfrm>
          <a:prstGeom prst="rect">
            <a:avLst/>
          </a:prstGeom>
          <a:solidFill>
            <a:srgbClr val="132038"/>
          </a:solidFill>
          <a:ln w="12700">
            <a:solidFill>
              <a:srgbClr val="1E3558"/>
            </a:solidFill>
            <a:prstDash val="solid"/>
          </a:ln>
        </p:spPr>
      </p:sp>
      <p:sp>
        <p:nvSpPr>
          <p:cNvPr id="18" name="Shape 15"/>
          <p:cNvSpPr/>
          <p:nvPr/>
        </p:nvSpPr>
        <p:spPr>
          <a:xfrm>
            <a:off x="6126480" y="2788920"/>
            <a:ext cx="54864" cy="777240"/>
          </a:xfrm>
          <a:prstGeom prst="rect">
            <a:avLst/>
          </a:prstGeom>
          <a:solidFill>
            <a:srgbClr val="2ECC97"/>
          </a:solidFill>
          <a:ln w="12700">
            <a:solidFill>
              <a:srgbClr val="2ECC97"/>
            </a:solidFill>
            <a:prstDash val="solid"/>
          </a:ln>
        </p:spPr>
      </p:sp>
      <p:sp>
        <p:nvSpPr>
          <p:cNvPr id="19" name="Text 16"/>
          <p:cNvSpPr/>
          <p:nvPr/>
        </p:nvSpPr>
        <p:spPr>
          <a:xfrm>
            <a:off x="6263640" y="2816352"/>
            <a:ext cx="1097280" cy="365760"/>
          </a:xfrm>
          <a:prstGeom prst="rect">
            <a:avLst/>
          </a:prstGeom>
          <a:noFill/>
          <a:ln/>
        </p:spPr>
        <p:txBody>
          <a:bodyPr wrap="square" lIns="0" tIns="0" rIns="0" bIns="0" rtlCol="0" anchor="ctr"/>
          <a:lstStyle/>
          <a:p>
            <a:pPr marL="0" indent="0">
              <a:buNone/>
            </a:pPr>
            <a:r>
              <a:rPr lang="en-US" sz="2200" b="1" dirty="0">
                <a:solidFill>
                  <a:srgbClr val="2ECC97"/>
                </a:solidFill>
                <a:latin typeface="Calibri" pitchFamily="34" charset="0"/>
                <a:ea typeface="Calibri" pitchFamily="34" charset="-122"/>
                <a:cs typeface="Calibri" pitchFamily="34" charset="-120"/>
              </a:rPr>
              <a:t>16.9%</a:t>
            </a:r>
            <a:endParaRPr lang="en-US" sz="2200" dirty="0"/>
          </a:p>
        </p:txBody>
      </p:sp>
      <p:sp>
        <p:nvSpPr>
          <p:cNvPr id="20" name="Text 17"/>
          <p:cNvSpPr/>
          <p:nvPr/>
        </p:nvSpPr>
        <p:spPr>
          <a:xfrm>
            <a:off x="6263640" y="3200400"/>
            <a:ext cx="246888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Bank Transfer</a:t>
            </a:r>
            <a:endParaRPr lang="en-US" sz="1000" dirty="0"/>
          </a:p>
        </p:txBody>
      </p:sp>
      <p:sp>
        <p:nvSpPr>
          <p:cNvPr id="21" name="Shape 18"/>
          <p:cNvSpPr/>
          <p:nvPr/>
        </p:nvSpPr>
        <p:spPr>
          <a:xfrm>
            <a:off x="6126480" y="3703320"/>
            <a:ext cx="2743200" cy="777240"/>
          </a:xfrm>
          <a:prstGeom prst="rect">
            <a:avLst/>
          </a:prstGeom>
          <a:solidFill>
            <a:srgbClr val="132038"/>
          </a:solidFill>
          <a:ln w="12700">
            <a:solidFill>
              <a:srgbClr val="1E3558"/>
            </a:solidFill>
            <a:prstDash val="solid"/>
          </a:ln>
        </p:spPr>
      </p:sp>
      <p:sp>
        <p:nvSpPr>
          <p:cNvPr id="22" name="Shape 19"/>
          <p:cNvSpPr/>
          <p:nvPr/>
        </p:nvSpPr>
        <p:spPr>
          <a:xfrm>
            <a:off x="6126480" y="3703320"/>
            <a:ext cx="54864" cy="777240"/>
          </a:xfrm>
          <a:prstGeom prst="rect">
            <a:avLst/>
          </a:prstGeom>
          <a:solidFill>
            <a:srgbClr val="F5A623"/>
          </a:solidFill>
          <a:ln w="12700">
            <a:solidFill>
              <a:srgbClr val="F5A623"/>
            </a:solidFill>
            <a:prstDash val="solid"/>
          </a:ln>
        </p:spPr>
      </p:sp>
      <p:sp>
        <p:nvSpPr>
          <p:cNvPr id="23" name="Text 20"/>
          <p:cNvSpPr/>
          <p:nvPr/>
        </p:nvSpPr>
        <p:spPr>
          <a:xfrm>
            <a:off x="6263640" y="3730752"/>
            <a:ext cx="1097280" cy="365760"/>
          </a:xfrm>
          <a:prstGeom prst="rect">
            <a:avLst/>
          </a:prstGeom>
          <a:noFill/>
          <a:ln/>
        </p:spPr>
        <p:txBody>
          <a:bodyPr wrap="square" lIns="0" tIns="0" rIns="0" bIns="0" rtlCol="0" anchor="ctr"/>
          <a:lstStyle/>
          <a:p>
            <a:pPr marL="0" indent="0">
              <a:buNone/>
            </a:pPr>
            <a:r>
              <a:rPr lang="en-US" sz="2200" b="1" dirty="0">
                <a:solidFill>
                  <a:srgbClr val="F5A623"/>
                </a:solidFill>
                <a:latin typeface="Calibri" pitchFamily="34" charset="0"/>
                <a:ea typeface="Calibri" pitchFamily="34" charset="-122"/>
                <a:cs typeface="Calibri" pitchFamily="34" charset="-120"/>
              </a:rPr>
              <a:t>12.1%</a:t>
            </a:r>
            <a:endParaRPr lang="en-US" sz="2200" dirty="0"/>
          </a:p>
        </p:txBody>
      </p:sp>
      <p:sp>
        <p:nvSpPr>
          <p:cNvPr id="24" name="Text 21"/>
          <p:cNvSpPr/>
          <p:nvPr/>
        </p:nvSpPr>
        <p:spPr>
          <a:xfrm>
            <a:off x="6263640" y="4114800"/>
            <a:ext cx="2468880" cy="22860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Cash + Debit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Shipping Preferences</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Breakdown of shipping methods chosen by customers</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graphicFrame>
        <p:nvGraphicFramePr>
          <p:cNvPr id="8" name="Chart 0"/>
          <p:cNvGraphicFramePr/>
          <p:nvPr/>
        </p:nvGraphicFramePr>
        <p:xfrm>
          <a:off x="274320" y="914400"/>
          <a:ext cx="5029200" cy="374904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5669280" y="1005840"/>
            <a:ext cx="3200400" cy="594360"/>
          </a:xfrm>
          <a:prstGeom prst="rect">
            <a:avLst/>
          </a:prstGeom>
          <a:solidFill>
            <a:srgbClr val="132038"/>
          </a:solidFill>
          <a:ln w="12700">
            <a:solidFill>
              <a:srgbClr val="1E3558"/>
            </a:solidFill>
            <a:prstDash val="solid"/>
          </a:ln>
        </p:spPr>
      </p:sp>
      <p:sp>
        <p:nvSpPr>
          <p:cNvPr id="10" name="Shape 7"/>
          <p:cNvSpPr/>
          <p:nvPr/>
        </p:nvSpPr>
        <p:spPr>
          <a:xfrm>
            <a:off x="5669280" y="1005840"/>
            <a:ext cx="54864" cy="594360"/>
          </a:xfrm>
          <a:prstGeom prst="rect">
            <a:avLst/>
          </a:prstGeom>
          <a:solidFill>
            <a:srgbClr val="00C2CB"/>
          </a:solidFill>
          <a:ln w="12700">
            <a:solidFill>
              <a:srgbClr val="00C2CB"/>
            </a:solidFill>
            <a:prstDash val="solid"/>
          </a:ln>
        </p:spPr>
      </p:sp>
      <p:sp>
        <p:nvSpPr>
          <p:cNvPr id="11" name="Text 8"/>
          <p:cNvSpPr/>
          <p:nvPr/>
        </p:nvSpPr>
        <p:spPr>
          <a:xfrm>
            <a:off x="5806440" y="1042416"/>
            <a:ext cx="1645920" cy="256032"/>
          </a:xfrm>
          <a:prstGeom prst="rect">
            <a:avLst/>
          </a:prstGeom>
          <a:noFill/>
          <a:ln/>
        </p:spPr>
        <p:txBody>
          <a:bodyPr wrap="square" lIns="0" tIns="0" rIns="0" bIns="0" rtlCol="0" anchor="ctr"/>
          <a:lstStyle/>
          <a:p>
            <a:pPr marL="0" indent="0">
              <a:buNone/>
            </a:pPr>
            <a:r>
              <a:rPr lang="en-US" sz="1200" b="1" dirty="0">
                <a:solidFill>
                  <a:srgbClr val="F0F4FF"/>
                </a:solidFill>
                <a:latin typeface="Calibri" pitchFamily="34" charset="0"/>
                <a:ea typeface="Calibri" pitchFamily="34" charset="-122"/>
                <a:cs typeface="Calibri" pitchFamily="34" charset="-120"/>
              </a:rPr>
              <a:t>Standard</a:t>
            </a:r>
            <a:endParaRPr lang="en-US" sz="1200" dirty="0"/>
          </a:p>
        </p:txBody>
      </p:sp>
      <p:sp>
        <p:nvSpPr>
          <p:cNvPr id="12" name="Text 9"/>
          <p:cNvSpPr/>
          <p:nvPr/>
        </p:nvSpPr>
        <p:spPr>
          <a:xfrm>
            <a:off x="7360920" y="1042416"/>
            <a:ext cx="1097280" cy="256032"/>
          </a:xfrm>
          <a:prstGeom prst="rect">
            <a:avLst/>
          </a:prstGeom>
          <a:noFill/>
          <a:ln/>
        </p:spPr>
        <p:txBody>
          <a:bodyPr wrap="square" lIns="0" tIns="0" rIns="0" bIns="0" rtlCol="0" anchor="ctr"/>
          <a:lstStyle/>
          <a:p>
            <a:pPr marL="0" indent="0" algn="r">
              <a:buNone/>
            </a:pPr>
            <a:r>
              <a:rPr lang="en-US" sz="1200" b="1" dirty="0">
                <a:solidFill>
                  <a:srgbClr val="00C2CB"/>
                </a:solidFill>
                <a:latin typeface="Calibri" pitchFamily="34" charset="0"/>
                <a:ea typeface="Calibri" pitchFamily="34" charset="-122"/>
                <a:cs typeface="Calibri" pitchFamily="34" charset="-120"/>
              </a:rPr>
              <a:t>6,725</a:t>
            </a:r>
            <a:endParaRPr lang="en-US" sz="1200" dirty="0"/>
          </a:p>
        </p:txBody>
      </p:sp>
      <p:sp>
        <p:nvSpPr>
          <p:cNvPr id="13" name="Text 10"/>
          <p:cNvSpPr/>
          <p:nvPr/>
        </p:nvSpPr>
        <p:spPr>
          <a:xfrm>
            <a:off x="5806440" y="1325880"/>
            <a:ext cx="2743200" cy="201168"/>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33.6% share</a:t>
            </a:r>
            <a:endParaRPr lang="en-US" sz="900" dirty="0"/>
          </a:p>
        </p:txBody>
      </p:sp>
      <p:sp>
        <p:nvSpPr>
          <p:cNvPr id="14" name="Shape 11"/>
          <p:cNvSpPr/>
          <p:nvPr/>
        </p:nvSpPr>
        <p:spPr>
          <a:xfrm>
            <a:off x="5669280" y="1719072"/>
            <a:ext cx="3200400" cy="594360"/>
          </a:xfrm>
          <a:prstGeom prst="rect">
            <a:avLst/>
          </a:prstGeom>
          <a:solidFill>
            <a:srgbClr val="132038"/>
          </a:solidFill>
          <a:ln w="12700">
            <a:solidFill>
              <a:srgbClr val="1E3558"/>
            </a:solidFill>
            <a:prstDash val="solid"/>
          </a:ln>
        </p:spPr>
      </p:sp>
      <p:sp>
        <p:nvSpPr>
          <p:cNvPr id="15" name="Shape 12"/>
          <p:cNvSpPr/>
          <p:nvPr/>
        </p:nvSpPr>
        <p:spPr>
          <a:xfrm>
            <a:off x="5669280" y="1719072"/>
            <a:ext cx="54864" cy="594360"/>
          </a:xfrm>
          <a:prstGeom prst="rect">
            <a:avLst/>
          </a:prstGeom>
          <a:solidFill>
            <a:srgbClr val="1D6FA4"/>
          </a:solidFill>
          <a:ln w="12700">
            <a:solidFill>
              <a:srgbClr val="1D6FA4"/>
            </a:solidFill>
            <a:prstDash val="solid"/>
          </a:ln>
        </p:spPr>
      </p:sp>
      <p:sp>
        <p:nvSpPr>
          <p:cNvPr id="16" name="Text 13"/>
          <p:cNvSpPr/>
          <p:nvPr/>
        </p:nvSpPr>
        <p:spPr>
          <a:xfrm>
            <a:off x="5806440" y="1755648"/>
            <a:ext cx="1645920" cy="256032"/>
          </a:xfrm>
          <a:prstGeom prst="rect">
            <a:avLst/>
          </a:prstGeom>
          <a:noFill/>
          <a:ln/>
        </p:spPr>
        <p:txBody>
          <a:bodyPr wrap="square" lIns="0" tIns="0" rIns="0" bIns="0" rtlCol="0" anchor="ctr"/>
          <a:lstStyle/>
          <a:p>
            <a:pPr marL="0" indent="0">
              <a:buNone/>
            </a:pPr>
            <a:r>
              <a:rPr lang="en-US" sz="1200" b="1" dirty="0">
                <a:solidFill>
                  <a:srgbClr val="F0F4FF"/>
                </a:solidFill>
                <a:latin typeface="Calibri" pitchFamily="34" charset="0"/>
                <a:ea typeface="Calibri" pitchFamily="34" charset="-122"/>
                <a:cs typeface="Calibri" pitchFamily="34" charset="-120"/>
              </a:rPr>
              <a:t>Express</a:t>
            </a:r>
            <a:endParaRPr lang="en-US" sz="1200" dirty="0"/>
          </a:p>
        </p:txBody>
      </p:sp>
      <p:sp>
        <p:nvSpPr>
          <p:cNvPr id="17" name="Text 14"/>
          <p:cNvSpPr/>
          <p:nvPr/>
        </p:nvSpPr>
        <p:spPr>
          <a:xfrm>
            <a:off x="7360920" y="1755648"/>
            <a:ext cx="1097280" cy="256032"/>
          </a:xfrm>
          <a:prstGeom prst="rect">
            <a:avLst/>
          </a:prstGeom>
          <a:noFill/>
          <a:ln/>
        </p:spPr>
        <p:txBody>
          <a:bodyPr wrap="square" lIns="0" tIns="0" rIns="0" bIns="0" rtlCol="0" anchor="ctr"/>
          <a:lstStyle/>
          <a:p>
            <a:pPr marL="0" indent="0" algn="r">
              <a:buNone/>
            </a:pPr>
            <a:r>
              <a:rPr lang="en-US" sz="1200" b="1" dirty="0">
                <a:solidFill>
                  <a:srgbClr val="1D6FA4"/>
                </a:solidFill>
                <a:latin typeface="Calibri" pitchFamily="34" charset="0"/>
                <a:ea typeface="Calibri" pitchFamily="34" charset="-122"/>
                <a:cs typeface="Calibri" pitchFamily="34" charset="-120"/>
              </a:rPr>
              <a:t>3,366</a:t>
            </a:r>
            <a:endParaRPr lang="en-US" sz="1200" dirty="0"/>
          </a:p>
        </p:txBody>
      </p:sp>
      <p:sp>
        <p:nvSpPr>
          <p:cNvPr id="18" name="Text 15"/>
          <p:cNvSpPr/>
          <p:nvPr/>
        </p:nvSpPr>
        <p:spPr>
          <a:xfrm>
            <a:off x="5806440" y="2039112"/>
            <a:ext cx="2743200" cy="201168"/>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16.8% share</a:t>
            </a:r>
            <a:endParaRPr lang="en-US" sz="900" dirty="0"/>
          </a:p>
        </p:txBody>
      </p:sp>
      <p:sp>
        <p:nvSpPr>
          <p:cNvPr id="19" name="Shape 16"/>
          <p:cNvSpPr/>
          <p:nvPr/>
        </p:nvSpPr>
        <p:spPr>
          <a:xfrm>
            <a:off x="5669280" y="2432304"/>
            <a:ext cx="3200400" cy="594360"/>
          </a:xfrm>
          <a:prstGeom prst="rect">
            <a:avLst/>
          </a:prstGeom>
          <a:solidFill>
            <a:srgbClr val="132038"/>
          </a:solidFill>
          <a:ln w="12700">
            <a:solidFill>
              <a:srgbClr val="1E3558"/>
            </a:solidFill>
            <a:prstDash val="solid"/>
          </a:ln>
        </p:spPr>
      </p:sp>
      <p:sp>
        <p:nvSpPr>
          <p:cNvPr id="20" name="Shape 17"/>
          <p:cNvSpPr/>
          <p:nvPr/>
        </p:nvSpPr>
        <p:spPr>
          <a:xfrm>
            <a:off x="5669280" y="2432304"/>
            <a:ext cx="54864" cy="594360"/>
          </a:xfrm>
          <a:prstGeom prst="rect">
            <a:avLst/>
          </a:prstGeom>
          <a:solidFill>
            <a:srgbClr val="2ECC97"/>
          </a:solidFill>
          <a:ln w="12700">
            <a:solidFill>
              <a:srgbClr val="2ECC97"/>
            </a:solidFill>
            <a:prstDash val="solid"/>
          </a:ln>
        </p:spPr>
      </p:sp>
      <p:sp>
        <p:nvSpPr>
          <p:cNvPr id="21" name="Text 18"/>
          <p:cNvSpPr/>
          <p:nvPr/>
        </p:nvSpPr>
        <p:spPr>
          <a:xfrm>
            <a:off x="5806440" y="2468880"/>
            <a:ext cx="1645920" cy="256032"/>
          </a:xfrm>
          <a:prstGeom prst="rect">
            <a:avLst/>
          </a:prstGeom>
          <a:noFill/>
          <a:ln/>
        </p:spPr>
        <p:txBody>
          <a:bodyPr wrap="square" lIns="0" tIns="0" rIns="0" bIns="0" rtlCol="0" anchor="ctr"/>
          <a:lstStyle/>
          <a:p>
            <a:pPr marL="0" indent="0">
              <a:buNone/>
            </a:pPr>
            <a:r>
              <a:rPr lang="en-US" sz="1200" b="1" dirty="0">
                <a:solidFill>
                  <a:srgbClr val="F0F4FF"/>
                </a:solidFill>
                <a:latin typeface="Calibri" pitchFamily="34" charset="0"/>
                <a:ea typeface="Calibri" pitchFamily="34" charset="-122"/>
                <a:cs typeface="Calibri" pitchFamily="34" charset="-120"/>
              </a:rPr>
              <a:t>Overnight</a:t>
            </a:r>
            <a:endParaRPr lang="en-US" sz="1200" dirty="0"/>
          </a:p>
        </p:txBody>
      </p:sp>
      <p:sp>
        <p:nvSpPr>
          <p:cNvPr id="22" name="Text 19"/>
          <p:cNvSpPr/>
          <p:nvPr/>
        </p:nvSpPr>
        <p:spPr>
          <a:xfrm>
            <a:off x="7360920" y="2468880"/>
            <a:ext cx="1097280" cy="256032"/>
          </a:xfrm>
          <a:prstGeom prst="rect">
            <a:avLst/>
          </a:prstGeom>
          <a:noFill/>
          <a:ln/>
        </p:spPr>
        <p:txBody>
          <a:bodyPr wrap="square" lIns="0" tIns="0" rIns="0" bIns="0" rtlCol="0" anchor="ctr"/>
          <a:lstStyle/>
          <a:p>
            <a:pPr marL="0" indent="0" algn="r">
              <a:buNone/>
            </a:pPr>
            <a:r>
              <a:rPr lang="en-US" sz="1200" b="1" dirty="0">
                <a:solidFill>
                  <a:srgbClr val="2ECC97"/>
                </a:solidFill>
                <a:latin typeface="Calibri" pitchFamily="34" charset="0"/>
                <a:ea typeface="Calibri" pitchFamily="34" charset="-122"/>
                <a:cs typeface="Calibri" pitchFamily="34" charset="-120"/>
              </a:rPr>
              <a:t>3,357</a:t>
            </a:r>
            <a:endParaRPr lang="en-US" sz="1200" dirty="0"/>
          </a:p>
        </p:txBody>
      </p:sp>
      <p:sp>
        <p:nvSpPr>
          <p:cNvPr id="23" name="Text 20"/>
          <p:cNvSpPr/>
          <p:nvPr/>
        </p:nvSpPr>
        <p:spPr>
          <a:xfrm>
            <a:off x="5806440" y="2752344"/>
            <a:ext cx="2743200" cy="201168"/>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16.8% share</a:t>
            </a:r>
            <a:endParaRPr lang="en-US" sz="900" dirty="0"/>
          </a:p>
        </p:txBody>
      </p:sp>
      <p:sp>
        <p:nvSpPr>
          <p:cNvPr id="24" name="Shape 21"/>
          <p:cNvSpPr/>
          <p:nvPr/>
        </p:nvSpPr>
        <p:spPr>
          <a:xfrm>
            <a:off x="5669280" y="3145536"/>
            <a:ext cx="3200400" cy="594360"/>
          </a:xfrm>
          <a:prstGeom prst="rect">
            <a:avLst/>
          </a:prstGeom>
          <a:solidFill>
            <a:srgbClr val="132038"/>
          </a:solidFill>
          <a:ln w="12700">
            <a:solidFill>
              <a:srgbClr val="1E3558"/>
            </a:solidFill>
            <a:prstDash val="solid"/>
          </a:ln>
        </p:spPr>
      </p:sp>
      <p:sp>
        <p:nvSpPr>
          <p:cNvPr id="25" name="Shape 22"/>
          <p:cNvSpPr/>
          <p:nvPr/>
        </p:nvSpPr>
        <p:spPr>
          <a:xfrm>
            <a:off x="5669280" y="3145536"/>
            <a:ext cx="54864" cy="594360"/>
          </a:xfrm>
          <a:prstGeom prst="rect">
            <a:avLst/>
          </a:prstGeom>
          <a:solidFill>
            <a:srgbClr val="F5A623"/>
          </a:solidFill>
          <a:ln w="12700">
            <a:solidFill>
              <a:srgbClr val="F5A623"/>
            </a:solidFill>
            <a:prstDash val="solid"/>
          </a:ln>
        </p:spPr>
      </p:sp>
      <p:sp>
        <p:nvSpPr>
          <p:cNvPr id="26" name="Text 23"/>
          <p:cNvSpPr/>
          <p:nvPr/>
        </p:nvSpPr>
        <p:spPr>
          <a:xfrm>
            <a:off x="5806440" y="3182112"/>
            <a:ext cx="1645920" cy="256032"/>
          </a:xfrm>
          <a:prstGeom prst="rect">
            <a:avLst/>
          </a:prstGeom>
          <a:noFill/>
          <a:ln/>
        </p:spPr>
        <p:txBody>
          <a:bodyPr wrap="square" lIns="0" tIns="0" rIns="0" bIns="0" rtlCol="0" anchor="ctr"/>
          <a:lstStyle/>
          <a:p>
            <a:pPr marL="0" indent="0">
              <a:buNone/>
            </a:pPr>
            <a:r>
              <a:rPr lang="en-US" sz="1200" b="1" dirty="0">
                <a:solidFill>
                  <a:srgbClr val="F0F4FF"/>
                </a:solidFill>
                <a:latin typeface="Calibri" pitchFamily="34" charset="0"/>
                <a:ea typeface="Calibri" pitchFamily="34" charset="-122"/>
                <a:cs typeface="Calibri" pitchFamily="34" charset="-120"/>
              </a:rPr>
              <a:t>Same Day</a:t>
            </a:r>
            <a:endParaRPr lang="en-US" sz="1200" dirty="0"/>
          </a:p>
        </p:txBody>
      </p:sp>
      <p:sp>
        <p:nvSpPr>
          <p:cNvPr id="27" name="Text 24"/>
          <p:cNvSpPr/>
          <p:nvPr/>
        </p:nvSpPr>
        <p:spPr>
          <a:xfrm>
            <a:off x="7360920" y="3182112"/>
            <a:ext cx="1097280" cy="256032"/>
          </a:xfrm>
          <a:prstGeom prst="rect">
            <a:avLst/>
          </a:prstGeom>
          <a:noFill/>
          <a:ln/>
        </p:spPr>
        <p:txBody>
          <a:bodyPr wrap="square" lIns="0" tIns="0" rIns="0" bIns="0" rtlCol="0" anchor="ctr"/>
          <a:lstStyle/>
          <a:p>
            <a:pPr marL="0" indent="0" algn="r">
              <a:buNone/>
            </a:pPr>
            <a:r>
              <a:rPr lang="en-US" sz="1200" b="1" dirty="0">
                <a:solidFill>
                  <a:srgbClr val="F5A623"/>
                </a:solidFill>
                <a:latin typeface="Calibri" pitchFamily="34" charset="0"/>
                <a:ea typeface="Calibri" pitchFamily="34" charset="-122"/>
                <a:cs typeface="Calibri" pitchFamily="34" charset="-120"/>
              </a:rPr>
              <a:t>3,280</a:t>
            </a:r>
            <a:endParaRPr lang="en-US" sz="1200" dirty="0"/>
          </a:p>
        </p:txBody>
      </p:sp>
      <p:sp>
        <p:nvSpPr>
          <p:cNvPr id="28" name="Text 25"/>
          <p:cNvSpPr/>
          <p:nvPr/>
        </p:nvSpPr>
        <p:spPr>
          <a:xfrm>
            <a:off x="5806440" y="3465576"/>
            <a:ext cx="2743200" cy="201168"/>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16.4% share</a:t>
            </a:r>
            <a:endParaRPr lang="en-US" sz="900" dirty="0"/>
          </a:p>
        </p:txBody>
      </p:sp>
      <p:sp>
        <p:nvSpPr>
          <p:cNvPr id="29" name="Shape 26"/>
          <p:cNvSpPr/>
          <p:nvPr/>
        </p:nvSpPr>
        <p:spPr>
          <a:xfrm>
            <a:off x="5669280" y="3858768"/>
            <a:ext cx="3200400" cy="594360"/>
          </a:xfrm>
          <a:prstGeom prst="rect">
            <a:avLst/>
          </a:prstGeom>
          <a:solidFill>
            <a:srgbClr val="132038"/>
          </a:solidFill>
          <a:ln w="12700">
            <a:solidFill>
              <a:srgbClr val="1E3558"/>
            </a:solidFill>
            <a:prstDash val="solid"/>
          </a:ln>
        </p:spPr>
      </p:sp>
      <p:sp>
        <p:nvSpPr>
          <p:cNvPr id="30" name="Shape 27"/>
          <p:cNvSpPr/>
          <p:nvPr/>
        </p:nvSpPr>
        <p:spPr>
          <a:xfrm>
            <a:off x="5669280" y="3858768"/>
            <a:ext cx="54864" cy="594360"/>
          </a:xfrm>
          <a:prstGeom prst="rect">
            <a:avLst/>
          </a:prstGeom>
          <a:solidFill>
            <a:srgbClr val="E05757"/>
          </a:solidFill>
          <a:ln w="12700">
            <a:solidFill>
              <a:srgbClr val="E05757"/>
            </a:solidFill>
            <a:prstDash val="solid"/>
          </a:ln>
        </p:spPr>
      </p:sp>
      <p:sp>
        <p:nvSpPr>
          <p:cNvPr id="31" name="Text 28"/>
          <p:cNvSpPr/>
          <p:nvPr/>
        </p:nvSpPr>
        <p:spPr>
          <a:xfrm>
            <a:off x="5806440" y="3895344"/>
            <a:ext cx="1645920" cy="256032"/>
          </a:xfrm>
          <a:prstGeom prst="rect">
            <a:avLst/>
          </a:prstGeom>
          <a:noFill/>
          <a:ln/>
        </p:spPr>
        <p:txBody>
          <a:bodyPr wrap="square" lIns="0" tIns="0" rIns="0" bIns="0" rtlCol="0" anchor="ctr"/>
          <a:lstStyle/>
          <a:p>
            <a:pPr marL="0" indent="0">
              <a:buNone/>
            </a:pPr>
            <a:r>
              <a:rPr lang="en-US" sz="1200" b="1" dirty="0">
                <a:solidFill>
                  <a:srgbClr val="F0F4FF"/>
                </a:solidFill>
                <a:latin typeface="Calibri" pitchFamily="34" charset="0"/>
                <a:ea typeface="Calibri" pitchFamily="34" charset="-122"/>
                <a:cs typeface="Calibri" pitchFamily="34" charset="-120"/>
              </a:rPr>
              <a:t>Expedited</a:t>
            </a:r>
            <a:endParaRPr lang="en-US" sz="1200" dirty="0"/>
          </a:p>
        </p:txBody>
      </p:sp>
      <p:sp>
        <p:nvSpPr>
          <p:cNvPr id="32" name="Text 29"/>
          <p:cNvSpPr/>
          <p:nvPr/>
        </p:nvSpPr>
        <p:spPr>
          <a:xfrm>
            <a:off x="7360920" y="3895344"/>
            <a:ext cx="1097280" cy="256032"/>
          </a:xfrm>
          <a:prstGeom prst="rect">
            <a:avLst/>
          </a:prstGeom>
          <a:noFill/>
          <a:ln/>
        </p:spPr>
        <p:txBody>
          <a:bodyPr wrap="square" lIns="0" tIns="0" rIns="0" bIns="0" rtlCol="0" anchor="ctr"/>
          <a:lstStyle/>
          <a:p>
            <a:pPr marL="0" indent="0" algn="r">
              <a:buNone/>
            </a:pPr>
            <a:r>
              <a:rPr lang="en-US" sz="1200" b="1" dirty="0">
                <a:solidFill>
                  <a:srgbClr val="E05757"/>
                </a:solidFill>
                <a:latin typeface="Calibri" pitchFamily="34" charset="0"/>
                <a:ea typeface="Calibri" pitchFamily="34" charset="-122"/>
                <a:cs typeface="Calibri" pitchFamily="34" charset="-120"/>
              </a:rPr>
              <a:t>3,272</a:t>
            </a:r>
            <a:endParaRPr lang="en-US" sz="1200" dirty="0"/>
          </a:p>
        </p:txBody>
      </p:sp>
      <p:sp>
        <p:nvSpPr>
          <p:cNvPr id="33" name="Text 30"/>
          <p:cNvSpPr/>
          <p:nvPr/>
        </p:nvSpPr>
        <p:spPr>
          <a:xfrm>
            <a:off x="5806440" y="4178808"/>
            <a:ext cx="2743200" cy="201168"/>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16.4% share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Add-on Revenue Analysis</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Impact of accessories and extended warranty on total revenue</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sp>
        <p:nvSpPr>
          <p:cNvPr id="9" name="Shape 7"/>
          <p:cNvSpPr/>
          <p:nvPr/>
        </p:nvSpPr>
        <p:spPr>
          <a:xfrm>
            <a:off x="274320" y="1005840"/>
            <a:ext cx="2560320" cy="64008"/>
          </a:xfrm>
          <a:prstGeom prst="rect">
            <a:avLst/>
          </a:prstGeom>
          <a:solidFill>
            <a:srgbClr val="F5A623"/>
          </a:solidFill>
          <a:ln w="12700">
            <a:solidFill>
              <a:srgbClr val="F5A623"/>
            </a:solidFill>
            <a:prstDash val="solid"/>
          </a:ln>
        </p:spPr>
      </p:sp>
      <p:sp>
        <p:nvSpPr>
          <p:cNvPr id="14" name="Shape 12"/>
          <p:cNvSpPr/>
          <p:nvPr/>
        </p:nvSpPr>
        <p:spPr>
          <a:xfrm>
            <a:off x="3108960" y="1005840"/>
            <a:ext cx="2560320" cy="64008"/>
          </a:xfrm>
          <a:prstGeom prst="rect">
            <a:avLst/>
          </a:prstGeom>
          <a:solidFill>
            <a:srgbClr val="00C2CB"/>
          </a:solidFill>
          <a:ln w="12700">
            <a:solidFill>
              <a:srgbClr val="00C2CB"/>
            </a:solidFill>
            <a:prstDash val="solid"/>
          </a:ln>
        </p:spPr>
      </p:sp>
      <p:sp>
        <p:nvSpPr>
          <p:cNvPr id="19" name="Shape 17"/>
          <p:cNvSpPr/>
          <p:nvPr/>
        </p:nvSpPr>
        <p:spPr>
          <a:xfrm>
            <a:off x="5943600" y="1005840"/>
            <a:ext cx="2560320" cy="64008"/>
          </a:xfrm>
          <a:prstGeom prst="rect">
            <a:avLst/>
          </a:prstGeom>
          <a:solidFill>
            <a:srgbClr val="2ECC97"/>
          </a:solidFill>
          <a:ln w="12700">
            <a:solidFill>
              <a:srgbClr val="2ECC97"/>
            </a:solidFill>
            <a:prstDash val="solid"/>
          </a:ln>
        </p:spPr>
      </p:sp>
      <p:graphicFrame>
        <p:nvGraphicFramePr>
          <p:cNvPr id="23" name="Chart 0"/>
          <p:cNvGraphicFramePr/>
          <p:nvPr>
            <p:extLst>
              <p:ext uri="{D42A27DB-BD31-4B8C-83A1-F6EECF244321}">
                <p14:modId xmlns:p14="http://schemas.microsoft.com/office/powerpoint/2010/main" val="464291987"/>
              </p:ext>
            </p:extLst>
          </p:nvPr>
        </p:nvGraphicFramePr>
        <p:xfrm>
          <a:off x="182880" y="1655064"/>
          <a:ext cx="8412480" cy="2286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Customer Age &amp; Loyalty Analysis</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Demographic breakdown and loyalty program performance</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graphicFrame>
        <p:nvGraphicFramePr>
          <p:cNvPr id="8" name="Chart 0"/>
          <p:cNvGraphicFramePr/>
          <p:nvPr/>
        </p:nvGraphicFramePr>
        <p:xfrm>
          <a:off x="274320" y="914400"/>
          <a:ext cx="502920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5669280" y="914400"/>
            <a:ext cx="3200400" cy="123444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0" name="Shape 7"/>
          <p:cNvSpPr/>
          <p:nvPr/>
        </p:nvSpPr>
        <p:spPr>
          <a:xfrm>
            <a:off x="5669280" y="914400"/>
            <a:ext cx="3200400" cy="64008"/>
          </a:xfrm>
          <a:prstGeom prst="rect">
            <a:avLst/>
          </a:prstGeom>
          <a:solidFill>
            <a:srgbClr val="00C2CB"/>
          </a:solidFill>
          <a:ln w="12700">
            <a:solidFill>
              <a:srgbClr val="00C2CB"/>
            </a:solidFill>
            <a:prstDash val="solid"/>
          </a:ln>
        </p:spPr>
      </p:sp>
      <p:sp>
        <p:nvSpPr>
          <p:cNvPr id="11" name="Text 8"/>
          <p:cNvSpPr/>
          <p:nvPr/>
        </p:nvSpPr>
        <p:spPr>
          <a:xfrm>
            <a:off x="5806440" y="1024128"/>
            <a:ext cx="292608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LOYALTY MEMBERS</a:t>
            </a:r>
            <a:endParaRPr lang="en-US" sz="850" dirty="0"/>
          </a:p>
        </p:txBody>
      </p:sp>
      <p:sp>
        <p:nvSpPr>
          <p:cNvPr id="12" name="Text 9"/>
          <p:cNvSpPr/>
          <p:nvPr/>
        </p:nvSpPr>
        <p:spPr>
          <a:xfrm>
            <a:off x="5806440" y="1261872"/>
            <a:ext cx="2926080" cy="548640"/>
          </a:xfrm>
          <a:prstGeom prst="rect">
            <a:avLst/>
          </a:prstGeom>
          <a:noFill/>
          <a:ln/>
        </p:spPr>
        <p:txBody>
          <a:bodyPr wrap="square" lIns="0" tIns="0" rIns="0" bIns="0" rtlCol="0" anchor="ctr"/>
          <a:lstStyle/>
          <a:p>
            <a:pPr marL="0" indent="0">
              <a:buNone/>
            </a:pPr>
            <a:r>
              <a:rPr lang="en-US" sz="2800" b="1" dirty="0">
                <a:solidFill>
                  <a:srgbClr val="00C2CB"/>
                </a:solidFill>
                <a:latin typeface="Calibri" pitchFamily="34" charset="0"/>
                <a:ea typeface="Calibri" pitchFamily="34" charset="-122"/>
                <a:cs typeface="Calibri" pitchFamily="34" charset="-120"/>
              </a:rPr>
              <a:t>4,343</a:t>
            </a:r>
            <a:endParaRPr lang="en-US" sz="2800" dirty="0"/>
          </a:p>
        </p:txBody>
      </p:sp>
      <p:sp>
        <p:nvSpPr>
          <p:cNvPr id="13" name="Text 10"/>
          <p:cNvSpPr/>
          <p:nvPr/>
        </p:nvSpPr>
        <p:spPr>
          <a:xfrm>
            <a:off x="5806440" y="1810512"/>
            <a:ext cx="292608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21.7% of all customers</a:t>
            </a:r>
            <a:endParaRPr lang="en-US" sz="900" dirty="0"/>
          </a:p>
        </p:txBody>
      </p:sp>
      <p:sp>
        <p:nvSpPr>
          <p:cNvPr id="14" name="Shape 11"/>
          <p:cNvSpPr/>
          <p:nvPr/>
        </p:nvSpPr>
        <p:spPr>
          <a:xfrm>
            <a:off x="5669280" y="2286000"/>
            <a:ext cx="3200400" cy="123444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5" name="Shape 12"/>
          <p:cNvSpPr/>
          <p:nvPr/>
        </p:nvSpPr>
        <p:spPr>
          <a:xfrm>
            <a:off x="5669280" y="2286000"/>
            <a:ext cx="3200400" cy="64008"/>
          </a:xfrm>
          <a:prstGeom prst="rect">
            <a:avLst/>
          </a:prstGeom>
          <a:solidFill>
            <a:srgbClr val="F5A623"/>
          </a:solidFill>
          <a:ln w="12700">
            <a:solidFill>
              <a:srgbClr val="F5A623"/>
            </a:solidFill>
            <a:prstDash val="solid"/>
          </a:ln>
        </p:spPr>
      </p:sp>
      <p:sp>
        <p:nvSpPr>
          <p:cNvPr id="16" name="Text 13"/>
          <p:cNvSpPr/>
          <p:nvPr/>
        </p:nvSpPr>
        <p:spPr>
          <a:xfrm>
            <a:off x="5806440" y="2395728"/>
            <a:ext cx="292608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LOYALTY REVENUE</a:t>
            </a:r>
            <a:endParaRPr lang="en-US" sz="850" dirty="0"/>
          </a:p>
        </p:txBody>
      </p:sp>
      <p:sp>
        <p:nvSpPr>
          <p:cNvPr id="17" name="Text 14"/>
          <p:cNvSpPr/>
          <p:nvPr/>
        </p:nvSpPr>
        <p:spPr>
          <a:xfrm>
            <a:off x="5806440" y="2633472"/>
            <a:ext cx="2926080" cy="548640"/>
          </a:xfrm>
          <a:prstGeom prst="rect">
            <a:avLst/>
          </a:prstGeom>
          <a:noFill/>
          <a:ln/>
        </p:spPr>
        <p:txBody>
          <a:bodyPr wrap="square" lIns="0" tIns="0" rIns="0" bIns="0" rtlCol="0" anchor="ctr"/>
          <a:lstStyle/>
          <a:p>
            <a:pPr marL="0" indent="0">
              <a:buNone/>
            </a:pPr>
            <a:r>
              <a:rPr lang="en-US" sz="2800" b="1" dirty="0">
                <a:solidFill>
                  <a:srgbClr val="F5A623"/>
                </a:solidFill>
                <a:latin typeface="Calibri" pitchFamily="34" charset="0"/>
                <a:ea typeface="Calibri" pitchFamily="34" charset="-122"/>
                <a:cs typeface="Calibri" pitchFamily="34" charset="-120"/>
              </a:rPr>
              <a:t>$13.6M</a:t>
            </a:r>
            <a:endParaRPr lang="en-US" sz="2800" dirty="0"/>
          </a:p>
        </p:txBody>
      </p:sp>
      <p:sp>
        <p:nvSpPr>
          <p:cNvPr id="18" name="Text 15"/>
          <p:cNvSpPr/>
          <p:nvPr/>
        </p:nvSpPr>
        <p:spPr>
          <a:xfrm>
            <a:off x="5806440" y="3182112"/>
            <a:ext cx="292608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21.4% of total revenue</a:t>
            </a:r>
            <a:endParaRPr lang="en-US" sz="900" dirty="0"/>
          </a:p>
        </p:txBody>
      </p:sp>
      <p:sp>
        <p:nvSpPr>
          <p:cNvPr id="19" name="Shape 16"/>
          <p:cNvSpPr/>
          <p:nvPr/>
        </p:nvSpPr>
        <p:spPr>
          <a:xfrm>
            <a:off x="5669280" y="3520440"/>
            <a:ext cx="3200400" cy="123444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0" name="Shape 17"/>
          <p:cNvSpPr/>
          <p:nvPr/>
        </p:nvSpPr>
        <p:spPr>
          <a:xfrm>
            <a:off x="5669280" y="3520440"/>
            <a:ext cx="3200400" cy="64008"/>
          </a:xfrm>
          <a:prstGeom prst="rect">
            <a:avLst/>
          </a:prstGeom>
          <a:solidFill>
            <a:srgbClr val="2ECC97"/>
          </a:solidFill>
          <a:ln w="12700">
            <a:solidFill>
              <a:srgbClr val="2ECC97"/>
            </a:solidFill>
            <a:prstDash val="solid"/>
          </a:ln>
        </p:spPr>
      </p:sp>
      <p:sp>
        <p:nvSpPr>
          <p:cNvPr id="21" name="Text 18"/>
          <p:cNvSpPr/>
          <p:nvPr/>
        </p:nvSpPr>
        <p:spPr>
          <a:xfrm>
            <a:off x="5806440" y="3630168"/>
            <a:ext cx="292608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TOP BUYER AGE GROUP</a:t>
            </a:r>
            <a:endParaRPr lang="en-US" sz="850" dirty="0"/>
          </a:p>
        </p:txBody>
      </p:sp>
      <p:sp>
        <p:nvSpPr>
          <p:cNvPr id="22" name="Text 19"/>
          <p:cNvSpPr/>
          <p:nvPr/>
        </p:nvSpPr>
        <p:spPr>
          <a:xfrm>
            <a:off x="5806440" y="3867912"/>
            <a:ext cx="2926080" cy="548640"/>
          </a:xfrm>
          <a:prstGeom prst="rect">
            <a:avLst/>
          </a:prstGeom>
          <a:noFill/>
          <a:ln/>
        </p:spPr>
        <p:txBody>
          <a:bodyPr wrap="square" lIns="0" tIns="0" rIns="0" bIns="0" rtlCol="0" anchor="ctr"/>
          <a:lstStyle/>
          <a:p>
            <a:pPr marL="0" indent="0">
              <a:buNone/>
            </a:pPr>
            <a:r>
              <a:rPr lang="en-US" sz="2800" b="1" dirty="0">
                <a:solidFill>
                  <a:srgbClr val="2ECC97"/>
                </a:solidFill>
                <a:latin typeface="Calibri" pitchFamily="34" charset="0"/>
                <a:ea typeface="Calibri" pitchFamily="34" charset="-122"/>
                <a:cs typeface="Calibri" pitchFamily="34" charset="-120"/>
              </a:rPr>
              <a:t>65+</a:t>
            </a:r>
            <a:endParaRPr lang="en-US" sz="2800" dirty="0"/>
          </a:p>
        </p:txBody>
      </p:sp>
      <p:sp>
        <p:nvSpPr>
          <p:cNvPr id="23" name="Text 20"/>
          <p:cNvSpPr/>
          <p:nvPr/>
        </p:nvSpPr>
        <p:spPr>
          <a:xfrm>
            <a:off x="5806440" y="4416552"/>
            <a:ext cx="292608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4,711 customers (23.6%)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Average Rating Analysis</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Customer satisfaction scores across products</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graphicFrame>
        <p:nvGraphicFramePr>
          <p:cNvPr id="8" name="Chart 0"/>
          <p:cNvGraphicFramePr/>
          <p:nvPr/>
        </p:nvGraphicFramePr>
        <p:xfrm>
          <a:off x="274320" y="914400"/>
          <a:ext cx="548640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9" name="Shape 6"/>
          <p:cNvSpPr/>
          <p:nvPr/>
        </p:nvSpPr>
        <p:spPr>
          <a:xfrm>
            <a:off x="6126480" y="1005840"/>
            <a:ext cx="2743200" cy="118872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0" name="Shape 7"/>
          <p:cNvSpPr/>
          <p:nvPr/>
        </p:nvSpPr>
        <p:spPr>
          <a:xfrm>
            <a:off x="6126480" y="1005840"/>
            <a:ext cx="2743200" cy="64008"/>
          </a:xfrm>
          <a:prstGeom prst="rect">
            <a:avLst/>
          </a:prstGeom>
          <a:solidFill>
            <a:srgbClr val="F5A623"/>
          </a:solidFill>
          <a:ln w="12700">
            <a:solidFill>
              <a:srgbClr val="F5A623"/>
            </a:solidFill>
            <a:prstDash val="solid"/>
          </a:ln>
        </p:spPr>
      </p:sp>
      <p:sp>
        <p:nvSpPr>
          <p:cNvPr id="11" name="Text 8"/>
          <p:cNvSpPr/>
          <p:nvPr/>
        </p:nvSpPr>
        <p:spPr>
          <a:xfrm>
            <a:off x="6263640" y="1115568"/>
            <a:ext cx="246888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OVERALL AVG RATING</a:t>
            </a:r>
            <a:endParaRPr lang="en-US" sz="850" dirty="0"/>
          </a:p>
        </p:txBody>
      </p:sp>
      <p:sp>
        <p:nvSpPr>
          <p:cNvPr id="12" name="Text 9"/>
          <p:cNvSpPr/>
          <p:nvPr/>
        </p:nvSpPr>
        <p:spPr>
          <a:xfrm>
            <a:off x="6263640" y="1353312"/>
            <a:ext cx="2468880" cy="548640"/>
          </a:xfrm>
          <a:prstGeom prst="rect">
            <a:avLst/>
          </a:prstGeom>
          <a:noFill/>
          <a:ln/>
        </p:spPr>
        <p:txBody>
          <a:bodyPr wrap="square" lIns="0" tIns="0" rIns="0" bIns="0" rtlCol="0" anchor="ctr"/>
          <a:lstStyle/>
          <a:p>
            <a:pPr marL="0" indent="0">
              <a:buNone/>
            </a:pPr>
            <a:r>
              <a:rPr lang="en-US" sz="2800" b="1" dirty="0">
                <a:solidFill>
                  <a:srgbClr val="F5A623"/>
                </a:solidFill>
                <a:latin typeface="Calibri" pitchFamily="34" charset="0"/>
                <a:ea typeface="Calibri" pitchFamily="34" charset="-122"/>
                <a:cs typeface="Calibri" pitchFamily="34" charset="-120"/>
              </a:rPr>
              <a:t>3.09 ★</a:t>
            </a:r>
            <a:endParaRPr lang="en-US" sz="2800" dirty="0"/>
          </a:p>
        </p:txBody>
      </p:sp>
      <p:sp>
        <p:nvSpPr>
          <p:cNvPr id="13" name="Text 10"/>
          <p:cNvSpPr/>
          <p:nvPr/>
        </p:nvSpPr>
        <p:spPr>
          <a:xfrm>
            <a:off x="6263640" y="1901952"/>
            <a:ext cx="246888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Across all 20,000 orders</a:t>
            </a:r>
            <a:endParaRPr lang="en-US" sz="900" dirty="0"/>
          </a:p>
        </p:txBody>
      </p:sp>
      <p:sp>
        <p:nvSpPr>
          <p:cNvPr id="14" name="Shape 11"/>
          <p:cNvSpPr/>
          <p:nvPr/>
        </p:nvSpPr>
        <p:spPr>
          <a:xfrm>
            <a:off x="6126480" y="2331720"/>
            <a:ext cx="2743200" cy="118872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5" name="Shape 12"/>
          <p:cNvSpPr/>
          <p:nvPr/>
        </p:nvSpPr>
        <p:spPr>
          <a:xfrm>
            <a:off x="6126480" y="2331720"/>
            <a:ext cx="2743200" cy="64008"/>
          </a:xfrm>
          <a:prstGeom prst="rect">
            <a:avLst/>
          </a:prstGeom>
          <a:solidFill>
            <a:srgbClr val="2ECC97"/>
          </a:solidFill>
          <a:ln w="12700">
            <a:solidFill>
              <a:srgbClr val="2ECC97"/>
            </a:solidFill>
            <a:prstDash val="solid"/>
          </a:ln>
        </p:spPr>
      </p:sp>
      <p:sp>
        <p:nvSpPr>
          <p:cNvPr id="16" name="Text 13"/>
          <p:cNvSpPr/>
          <p:nvPr/>
        </p:nvSpPr>
        <p:spPr>
          <a:xfrm>
            <a:off x="6263640" y="2441448"/>
            <a:ext cx="246888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HIGHEST RATED</a:t>
            </a:r>
            <a:endParaRPr lang="en-US" sz="850" dirty="0"/>
          </a:p>
        </p:txBody>
      </p:sp>
      <p:sp>
        <p:nvSpPr>
          <p:cNvPr id="17" name="Text 14"/>
          <p:cNvSpPr/>
          <p:nvPr/>
        </p:nvSpPr>
        <p:spPr>
          <a:xfrm>
            <a:off x="6263640" y="2679192"/>
            <a:ext cx="2468880" cy="548640"/>
          </a:xfrm>
          <a:prstGeom prst="rect">
            <a:avLst/>
          </a:prstGeom>
          <a:noFill/>
          <a:ln/>
        </p:spPr>
        <p:txBody>
          <a:bodyPr wrap="square" lIns="0" tIns="0" rIns="0" bIns="0" rtlCol="0" anchor="ctr"/>
          <a:lstStyle/>
          <a:p>
            <a:pPr marL="0" indent="0">
              <a:buNone/>
            </a:pPr>
            <a:r>
              <a:rPr lang="en-US" sz="2800" b="1" dirty="0">
                <a:solidFill>
                  <a:srgbClr val="2ECC97"/>
                </a:solidFill>
                <a:latin typeface="Calibri" pitchFamily="34" charset="0"/>
                <a:ea typeface="Calibri" pitchFamily="34" charset="-122"/>
                <a:cs typeface="Calibri" pitchFamily="34" charset="-120"/>
              </a:rPr>
              <a:t>Smartphone</a:t>
            </a:r>
            <a:endParaRPr lang="en-US" sz="2800" dirty="0"/>
          </a:p>
        </p:txBody>
      </p:sp>
      <p:sp>
        <p:nvSpPr>
          <p:cNvPr id="18" name="Text 15"/>
          <p:cNvSpPr/>
          <p:nvPr/>
        </p:nvSpPr>
        <p:spPr>
          <a:xfrm>
            <a:off x="6263640" y="3227832"/>
            <a:ext cx="246888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Avg 3.12 stars</a:t>
            </a:r>
            <a:endParaRPr lang="en-US" sz="900" dirty="0"/>
          </a:p>
        </p:txBody>
      </p:sp>
      <p:sp>
        <p:nvSpPr>
          <p:cNvPr id="19" name="Shape 16"/>
          <p:cNvSpPr/>
          <p:nvPr/>
        </p:nvSpPr>
        <p:spPr>
          <a:xfrm>
            <a:off x="6126480" y="3611880"/>
            <a:ext cx="2743200" cy="118872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0" name="Shape 17"/>
          <p:cNvSpPr/>
          <p:nvPr/>
        </p:nvSpPr>
        <p:spPr>
          <a:xfrm>
            <a:off x="6126480" y="3611880"/>
            <a:ext cx="2743200" cy="64008"/>
          </a:xfrm>
          <a:prstGeom prst="rect">
            <a:avLst/>
          </a:prstGeom>
          <a:solidFill>
            <a:srgbClr val="E05757"/>
          </a:solidFill>
          <a:ln w="12700">
            <a:solidFill>
              <a:srgbClr val="E05757"/>
            </a:solidFill>
            <a:prstDash val="solid"/>
          </a:ln>
        </p:spPr>
      </p:sp>
      <p:sp>
        <p:nvSpPr>
          <p:cNvPr id="21" name="Text 18"/>
          <p:cNvSpPr/>
          <p:nvPr/>
        </p:nvSpPr>
        <p:spPr>
          <a:xfrm>
            <a:off x="6263640" y="3721608"/>
            <a:ext cx="2468880" cy="228600"/>
          </a:xfrm>
          <a:prstGeom prst="rect">
            <a:avLst/>
          </a:prstGeom>
          <a:noFill/>
          <a:ln/>
        </p:spPr>
        <p:txBody>
          <a:bodyPr wrap="square" lIns="0" tIns="0" rIns="0" bIns="0" rtlCol="0" anchor="ctr"/>
          <a:lstStyle/>
          <a:p>
            <a:pPr marL="0" indent="0">
              <a:buNone/>
            </a:pPr>
            <a:r>
              <a:rPr lang="en-US" sz="850" b="1" kern="0" spc="200" dirty="0">
                <a:solidFill>
                  <a:srgbClr val="8B9AB5"/>
                </a:solidFill>
                <a:latin typeface="Calibri" pitchFamily="34" charset="0"/>
                <a:ea typeface="Calibri" pitchFamily="34" charset="-122"/>
                <a:cs typeface="Calibri" pitchFamily="34" charset="-120"/>
              </a:rPr>
              <a:t>LOWEST RATED</a:t>
            </a:r>
            <a:endParaRPr lang="en-US" sz="850" dirty="0"/>
          </a:p>
        </p:txBody>
      </p:sp>
      <p:sp>
        <p:nvSpPr>
          <p:cNvPr id="22" name="Text 19"/>
          <p:cNvSpPr/>
          <p:nvPr/>
        </p:nvSpPr>
        <p:spPr>
          <a:xfrm>
            <a:off x="6263640" y="3959352"/>
            <a:ext cx="2468880" cy="548640"/>
          </a:xfrm>
          <a:prstGeom prst="rect">
            <a:avLst/>
          </a:prstGeom>
          <a:noFill/>
          <a:ln/>
        </p:spPr>
        <p:txBody>
          <a:bodyPr wrap="square" lIns="0" tIns="0" rIns="0" bIns="0" rtlCol="0" anchor="ctr"/>
          <a:lstStyle/>
          <a:p>
            <a:pPr marL="0" indent="0">
              <a:buNone/>
            </a:pPr>
            <a:r>
              <a:rPr lang="en-US" sz="2800" b="1" dirty="0">
                <a:solidFill>
                  <a:srgbClr val="E05757"/>
                </a:solidFill>
                <a:latin typeface="Calibri" pitchFamily="34" charset="0"/>
                <a:ea typeface="Calibri" pitchFamily="34" charset="-122"/>
                <a:cs typeface="Calibri" pitchFamily="34" charset="-120"/>
              </a:rPr>
              <a:t>Headphones</a:t>
            </a:r>
            <a:endParaRPr lang="en-US" sz="2800" dirty="0"/>
          </a:p>
        </p:txBody>
      </p:sp>
      <p:sp>
        <p:nvSpPr>
          <p:cNvPr id="23" name="Text 20"/>
          <p:cNvSpPr/>
          <p:nvPr/>
        </p:nvSpPr>
        <p:spPr>
          <a:xfrm>
            <a:off x="6263640" y="4507992"/>
            <a:ext cx="2468880" cy="228600"/>
          </a:xfrm>
          <a:prstGeom prst="rect">
            <a:avLst/>
          </a:prstGeom>
          <a:noFill/>
          <a:ln/>
        </p:spPr>
        <p:txBody>
          <a:bodyPr wrap="square" lIns="0" tIns="0" rIns="0" bIns="0" rtlCol="0" anchor="ctr"/>
          <a:lstStyle/>
          <a:p>
            <a:pPr marL="0" indent="0">
              <a:buNone/>
            </a:pPr>
            <a:r>
              <a:rPr lang="en-US" sz="900" dirty="0">
                <a:solidFill>
                  <a:srgbClr val="8B9AB5"/>
                </a:solidFill>
                <a:latin typeface="Calibri" pitchFamily="34" charset="0"/>
                <a:ea typeface="Calibri" pitchFamily="34" charset="-122"/>
                <a:cs typeface="Calibri" pitchFamily="34" charset="-120"/>
              </a:rPr>
              <a:t>Avg 3.07 stars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Data Disclaimer &amp; Integrity</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Understanding the nature and adjustments of this dataset</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sp>
        <p:nvSpPr>
          <p:cNvPr id="8" name="Shape 6"/>
          <p:cNvSpPr/>
          <p:nvPr/>
        </p:nvSpPr>
        <p:spPr>
          <a:xfrm>
            <a:off x="274320" y="1051560"/>
            <a:ext cx="4160520" cy="109728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9" name="Shape 7"/>
          <p:cNvSpPr/>
          <p:nvPr/>
        </p:nvSpPr>
        <p:spPr>
          <a:xfrm>
            <a:off x="274320" y="1051560"/>
            <a:ext cx="54864" cy="1097280"/>
          </a:xfrm>
          <a:prstGeom prst="rect">
            <a:avLst/>
          </a:prstGeom>
          <a:solidFill>
            <a:srgbClr val="F5A623"/>
          </a:solidFill>
          <a:ln w="12700">
            <a:solidFill>
              <a:srgbClr val="F5A623"/>
            </a:solidFill>
            <a:prstDash val="solid"/>
          </a:ln>
        </p:spPr>
      </p:sp>
      <p:sp>
        <p:nvSpPr>
          <p:cNvPr id="10" name="Text 8"/>
          <p:cNvSpPr/>
          <p:nvPr/>
        </p:nvSpPr>
        <p:spPr>
          <a:xfrm>
            <a:off x="438912" y="1143000"/>
            <a:ext cx="3840480" cy="274320"/>
          </a:xfrm>
          <a:prstGeom prst="rect">
            <a:avLst/>
          </a:prstGeom>
          <a:noFill/>
          <a:ln/>
        </p:spPr>
        <p:txBody>
          <a:bodyPr wrap="square" lIns="0" tIns="0" rIns="0" bIns="0" rtlCol="0" anchor="ctr"/>
          <a:lstStyle/>
          <a:p>
            <a:pPr marL="0" indent="0">
              <a:buNone/>
            </a:pPr>
            <a:r>
              <a:rPr lang="en-US" sz="1200" b="1" dirty="0">
                <a:solidFill>
                  <a:srgbClr val="F5A623"/>
                </a:solidFill>
                <a:latin typeface="Calibri" pitchFamily="34" charset="0"/>
                <a:ea typeface="Calibri" pitchFamily="34" charset="-122"/>
                <a:cs typeface="Calibri" pitchFamily="34" charset="-120"/>
              </a:rPr>
              <a:t>Synthetic Dataset</a:t>
            </a:r>
            <a:endParaRPr lang="en-US" sz="1200" dirty="0"/>
          </a:p>
        </p:txBody>
      </p:sp>
      <p:sp>
        <p:nvSpPr>
          <p:cNvPr id="11" name="Text 9"/>
          <p:cNvSpPr/>
          <p:nvPr/>
        </p:nvSpPr>
        <p:spPr>
          <a:xfrm>
            <a:off x="438912" y="146304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All records are computer-generated. No real customer transactions or personal data are represented.</a:t>
            </a:r>
            <a:endParaRPr lang="en-US" sz="1000" dirty="0"/>
          </a:p>
        </p:txBody>
      </p:sp>
      <p:sp>
        <p:nvSpPr>
          <p:cNvPr id="12" name="Shape 10"/>
          <p:cNvSpPr/>
          <p:nvPr/>
        </p:nvSpPr>
        <p:spPr>
          <a:xfrm>
            <a:off x="274320" y="2286000"/>
            <a:ext cx="4160520" cy="109728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3" name="Shape 11"/>
          <p:cNvSpPr/>
          <p:nvPr/>
        </p:nvSpPr>
        <p:spPr>
          <a:xfrm>
            <a:off x="274320" y="2286000"/>
            <a:ext cx="54864" cy="1097280"/>
          </a:xfrm>
          <a:prstGeom prst="rect">
            <a:avLst/>
          </a:prstGeom>
          <a:solidFill>
            <a:srgbClr val="00C2CB"/>
          </a:solidFill>
          <a:ln w="12700">
            <a:solidFill>
              <a:srgbClr val="00C2CB"/>
            </a:solidFill>
            <a:prstDash val="solid"/>
          </a:ln>
        </p:spPr>
      </p:sp>
      <p:sp>
        <p:nvSpPr>
          <p:cNvPr id="14" name="Text 12"/>
          <p:cNvSpPr/>
          <p:nvPr/>
        </p:nvSpPr>
        <p:spPr>
          <a:xfrm>
            <a:off x="438912" y="2377440"/>
            <a:ext cx="3840480" cy="274320"/>
          </a:xfrm>
          <a:prstGeom prst="rect">
            <a:avLst/>
          </a:prstGeom>
          <a:noFill/>
          <a:ln/>
        </p:spPr>
        <p:txBody>
          <a:bodyPr wrap="square" lIns="0" tIns="0" rIns="0" bIns="0" rtlCol="0" anchor="ctr"/>
          <a:lstStyle/>
          <a:p>
            <a:pPr marL="0" indent="0">
              <a:buNone/>
            </a:pPr>
            <a:r>
              <a:rPr lang="en-US" sz="1200" b="1" dirty="0">
                <a:solidFill>
                  <a:srgbClr val="00C2CB"/>
                </a:solidFill>
                <a:latin typeface="Calibri" pitchFamily="34" charset="0"/>
                <a:ea typeface="Calibri" pitchFamily="34" charset="-122"/>
                <a:cs typeface="Calibri" pitchFamily="34" charset="-120"/>
              </a:rPr>
              <a:t>Gender Correction</a:t>
            </a:r>
            <a:endParaRPr lang="en-US" sz="1200" dirty="0"/>
          </a:p>
        </p:txBody>
      </p:sp>
      <p:sp>
        <p:nvSpPr>
          <p:cNvPr id="15" name="Text 13"/>
          <p:cNvSpPr/>
          <p:nvPr/>
        </p:nvSpPr>
        <p:spPr>
          <a:xfrm>
            <a:off x="438912" y="269748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Original data had exactly 50/50 gender split. Adjusted to 50.8% Male / 49.2% Female for realistic distribution.</a:t>
            </a:r>
            <a:endParaRPr lang="en-US" sz="1000" dirty="0"/>
          </a:p>
        </p:txBody>
      </p:sp>
      <p:sp>
        <p:nvSpPr>
          <p:cNvPr id="16" name="Shape 14"/>
          <p:cNvSpPr/>
          <p:nvPr/>
        </p:nvSpPr>
        <p:spPr>
          <a:xfrm>
            <a:off x="274320" y="3520440"/>
            <a:ext cx="4160520" cy="109728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7" name="Shape 15"/>
          <p:cNvSpPr/>
          <p:nvPr/>
        </p:nvSpPr>
        <p:spPr>
          <a:xfrm>
            <a:off x="274320" y="3520440"/>
            <a:ext cx="54864" cy="1097280"/>
          </a:xfrm>
          <a:prstGeom prst="rect">
            <a:avLst/>
          </a:prstGeom>
          <a:solidFill>
            <a:srgbClr val="2ECC97"/>
          </a:solidFill>
          <a:ln w="12700">
            <a:solidFill>
              <a:srgbClr val="2ECC97"/>
            </a:solidFill>
            <a:prstDash val="solid"/>
          </a:ln>
        </p:spPr>
      </p:sp>
      <p:sp>
        <p:nvSpPr>
          <p:cNvPr id="18" name="Text 16"/>
          <p:cNvSpPr/>
          <p:nvPr/>
        </p:nvSpPr>
        <p:spPr>
          <a:xfrm>
            <a:off x="438912" y="3611880"/>
            <a:ext cx="3840480" cy="274320"/>
          </a:xfrm>
          <a:prstGeom prst="rect">
            <a:avLst/>
          </a:prstGeom>
          <a:noFill/>
          <a:ln/>
        </p:spPr>
        <p:txBody>
          <a:bodyPr wrap="square" lIns="0" tIns="0" rIns="0" bIns="0" rtlCol="0" anchor="ctr"/>
          <a:lstStyle/>
          <a:p>
            <a:pPr marL="0" indent="0">
              <a:buNone/>
            </a:pPr>
            <a:r>
              <a:rPr lang="en-US" sz="1200" b="1" dirty="0">
                <a:solidFill>
                  <a:srgbClr val="2ECC97"/>
                </a:solidFill>
                <a:latin typeface="Calibri" pitchFamily="34" charset="0"/>
                <a:ea typeface="Calibri" pitchFamily="34" charset="-122"/>
                <a:cs typeface="Calibri" pitchFamily="34" charset="-120"/>
              </a:rPr>
              <a:t>Loyalty Adjustments</a:t>
            </a:r>
            <a:endParaRPr lang="en-US" sz="1200" dirty="0"/>
          </a:p>
        </p:txBody>
      </p:sp>
      <p:sp>
        <p:nvSpPr>
          <p:cNvPr id="19" name="Text 17"/>
          <p:cNvSpPr/>
          <p:nvPr/>
        </p:nvSpPr>
        <p:spPr>
          <a:xfrm>
            <a:off x="438912" y="393192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Loyalty membership values change over time in the dataset. Some customers cancelled; some signed up during the year.</a:t>
            </a:r>
            <a:endParaRPr lang="en-US" sz="1000" dirty="0"/>
          </a:p>
        </p:txBody>
      </p:sp>
      <p:sp>
        <p:nvSpPr>
          <p:cNvPr id="20" name="Shape 18"/>
          <p:cNvSpPr/>
          <p:nvPr/>
        </p:nvSpPr>
        <p:spPr>
          <a:xfrm>
            <a:off x="4709160" y="1051560"/>
            <a:ext cx="4160520" cy="109728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1" name="Shape 19"/>
          <p:cNvSpPr/>
          <p:nvPr/>
        </p:nvSpPr>
        <p:spPr>
          <a:xfrm>
            <a:off x="4709160" y="1051560"/>
            <a:ext cx="54864" cy="1097280"/>
          </a:xfrm>
          <a:prstGeom prst="rect">
            <a:avLst/>
          </a:prstGeom>
          <a:solidFill>
            <a:srgbClr val="1D6FA4"/>
          </a:solidFill>
          <a:ln w="12700">
            <a:solidFill>
              <a:srgbClr val="1D6FA4"/>
            </a:solidFill>
            <a:prstDash val="solid"/>
          </a:ln>
        </p:spPr>
      </p:sp>
      <p:sp>
        <p:nvSpPr>
          <p:cNvPr id="22" name="Text 20"/>
          <p:cNvSpPr/>
          <p:nvPr/>
        </p:nvSpPr>
        <p:spPr>
          <a:xfrm>
            <a:off x="4873752" y="1143000"/>
            <a:ext cx="3840480" cy="274320"/>
          </a:xfrm>
          <a:prstGeom prst="rect">
            <a:avLst/>
          </a:prstGeom>
          <a:noFill/>
          <a:ln/>
        </p:spPr>
        <p:txBody>
          <a:bodyPr wrap="square" lIns="0" tIns="0" rIns="0" bIns="0" rtlCol="0" anchor="ctr"/>
          <a:lstStyle/>
          <a:p>
            <a:pPr marL="0" indent="0">
              <a:buNone/>
            </a:pPr>
            <a:r>
              <a:rPr lang="en-US" sz="1200" b="1" dirty="0">
                <a:solidFill>
                  <a:srgbClr val="1D6FA4"/>
                </a:solidFill>
                <a:latin typeface="Calibri" pitchFamily="34" charset="0"/>
                <a:ea typeface="Calibri" pitchFamily="34" charset="-122"/>
                <a:cs typeface="Calibri" pitchFamily="34" charset="-120"/>
              </a:rPr>
              <a:t>Consistent Customer Data</a:t>
            </a:r>
            <a:endParaRPr lang="en-US" sz="1200" dirty="0"/>
          </a:p>
        </p:txBody>
      </p:sp>
      <p:sp>
        <p:nvSpPr>
          <p:cNvPr id="23" name="Text 21"/>
          <p:cNvSpPr/>
          <p:nvPr/>
        </p:nvSpPr>
        <p:spPr>
          <a:xfrm>
            <a:off x="4873752" y="146304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All orders from the same Customer ID carry identical demographic data (age, gender) across all purchases.</a:t>
            </a:r>
            <a:endParaRPr lang="en-US" sz="1000" dirty="0"/>
          </a:p>
        </p:txBody>
      </p:sp>
      <p:sp>
        <p:nvSpPr>
          <p:cNvPr id="24" name="Shape 22"/>
          <p:cNvSpPr/>
          <p:nvPr/>
        </p:nvSpPr>
        <p:spPr>
          <a:xfrm>
            <a:off x="4709160" y="2286000"/>
            <a:ext cx="4160520" cy="109728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5" name="Shape 23"/>
          <p:cNvSpPr/>
          <p:nvPr/>
        </p:nvSpPr>
        <p:spPr>
          <a:xfrm>
            <a:off x="4709160" y="2286000"/>
            <a:ext cx="54864" cy="1097280"/>
          </a:xfrm>
          <a:prstGeom prst="rect">
            <a:avLst/>
          </a:prstGeom>
          <a:solidFill>
            <a:srgbClr val="E05757"/>
          </a:solidFill>
          <a:ln w="12700">
            <a:solidFill>
              <a:srgbClr val="E05757"/>
            </a:solidFill>
            <a:prstDash val="solid"/>
          </a:ln>
        </p:spPr>
      </p:sp>
      <p:sp>
        <p:nvSpPr>
          <p:cNvPr id="26" name="Text 24"/>
          <p:cNvSpPr/>
          <p:nvPr/>
        </p:nvSpPr>
        <p:spPr>
          <a:xfrm>
            <a:off x="4873752" y="2377440"/>
            <a:ext cx="3840480" cy="274320"/>
          </a:xfrm>
          <a:prstGeom prst="rect">
            <a:avLst/>
          </a:prstGeom>
          <a:noFill/>
          <a:ln/>
        </p:spPr>
        <p:txBody>
          <a:bodyPr wrap="square" lIns="0" tIns="0" rIns="0" bIns="0" rtlCol="0" anchor="ctr"/>
          <a:lstStyle/>
          <a:p>
            <a:pPr marL="0" indent="0">
              <a:buNone/>
            </a:pPr>
            <a:r>
              <a:rPr lang="en-US" sz="1200" b="1" dirty="0">
                <a:solidFill>
                  <a:srgbClr val="E05757"/>
                </a:solidFill>
                <a:latin typeface="Calibri" pitchFamily="34" charset="0"/>
                <a:ea typeface="Calibri" pitchFamily="34" charset="-122"/>
                <a:cs typeface="Calibri" pitchFamily="34" charset="-120"/>
              </a:rPr>
              <a:t>No Null Ratings</a:t>
            </a:r>
            <a:endParaRPr lang="en-US" sz="1200" dirty="0"/>
          </a:p>
        </p:txBody>
      </p:sp>
      <p:sp>
        <p:nvSpPr>
          <p:cNvPr id="27" name="Text 25"/>
          <p:cNvSpPr/>
          <p:nvPr/>
        </p:nvSpPr>
        <p:spPr>
          <a:xfrm>
            <a:off x="4873752" y="269748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The dataset guarantees every transaction has a valid star rating between 1 and 5 — no missing values in the Rating column.</a:t>
            </a:r>
            <a:endParaRPr lang="en-US" sz="1000" dirty="0"/>
          </a:p>
        </p:txBody>
      </p:sp>
      <p:sp>
        <p:nvSpPr>
          <p:cNvPr id="28" name="Shape 26"/>
          <p:cNvSpPr/>
          <p:nvPr/>
        </p:nvSpPr>
        <p:spPr>
          <a:xfrm>
            <a:off x="4709160" y="3520440"/>
            <a:ext cx="4160520" cy="109728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9" name="Shape 27"/>
          <p:cNvSpPr/>
          <p:nvPr/>
        </p:nvSpPr>
        <p:spPr>
          <a:xfrm>
            <a:off x="4709160" y="3520440"/>
            <a:ext cx="54864" cy="1097280"/>
          </a:xfrm>
          <a:prstGeom prst="rect">
            <a:avLst/>
          </a:prstGeom>
          <a:solidFill>
            <a:srgbClr val="F5A623"/>
          </a:solidFill>
          <a:ln w="12700">
            <a:solidFill>
              <a:srgbClr val="F5A623"/>
            </a:solidFill>
            <a:prstDash val="solid"/>
          </a:ln>
        </p:spPr>
      </p:sp>
      <p:sp>
        <p:nvSpPr>
          <p:cNvPr id="30" name="Text 28"/>
          <p:cNvSpPr/>
          <p:nvPr/>
        </p:nvSpPr>
        <p:spPr>
          <a:xfrm>
            <a:off x="4873752" y="3611880"/>
            <a:ext cx="3840480" cy="274320"/>
          </a:xfrm>
          <a:prstGeom prst="rect">
            <a:avLst/>
          </a:prstGeom>
          <a:noFill/>
          <a:ln/>
        </p:spPr>
        <p:txBody>
          <a:bodyPr wrap="square" lIns="0" tIns="0" rIns="0" bIns="0" rtlCol="0" anchor="ctr"/>
          <a:lstStyle/>
          <a:p>
            <a:pPr marL="0" indent="0">
              <a:buNone/>
            </a:pPr>
            <a:r>
              <a:rPr lang="en-US" sz="1200" b="1" dirty="0">
                <a:solidFill>
                  <a:srgbClr val="F5A623"/>
                </a:solidFill>
                <a:latin typeface="Calibri" pitchFamily="34" charset="0"/>
                <a:ea typeface="Calibri" pitchFamily="34" charset="-122"/>
                <a:cs typeface="Calibri" pitchFamily="34" charset="-120"/>
              </a:rPr>
              <a:t>Date Format Note</a:t>
            </a:r>
            <a:endParaRPr lang="en-US" sz="1200" dirty="0"/>
          </a:p>
        </p:txBody>
      </p:sp>
      <p:sp>
        <p:nvSpPr>
          <p:cNvPr id="31" name="Text 29"/>
          <p:cNvSpPr/>
          <p:nvPr/>
        </p:nvSpPr>
        <p:spPr>
          <a:xfrm>
            <a:off x="4873752" y="393192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Purchase dates are formatted DD-MM-YYYY in source file. Parsed to month/year for trend analysis in this report.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5">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640080"/>
          </a:xfrm>
          <a:prstGeom prst="rect">
            <a:avLst/>
          </a:prstGeom>
          <a:solidFill>
            <a:srgbClr val="0F1E3C"/>
          </a:solidFill>
          <a:ln w="12700">
            <a:solidFill>
              <a:srgbClr val="0F1E3C"/>
            </a:solidFill>
            <a:prstDash val="solid"/>
          </a:ln>
        </p:spPr>
      </p:sp>
      <p:sp>
        <p:nvSpPr>
          <p:cNvPr id="3" name="Shape 1"/>
          <p:cNvSpPr/>
          <p:nvPr/>
        </p:nvSpPr>
        <p:spPr>
          <a:xfrm>
            <a:off x="0" y="0"/>
            <a:ext cx="320040" cy="640080"/>
          </a:xfrm>
          <a:prstGeom prst="rect">
            <a:avLst/>
          </a:prstGeom>
          <a:solidFill>
            <a:srgbClr val="00C2CB"/>
          </a:solidFill>
          <a:ln w="12700">
            <a:solidFill>
              <a:srgbClr val="00C2CB"/>
            </a:solidFill>
            <a:prstDash val="solid"/>
          </a:ln>
        </p:spPr>
      </p:sp>
      <p:sp>
        <p:nvSpPr>
          <p:cNvPr id="4" name="Text 2"/>
          <p:cNvSpPr/>
          <p:nvPr/>
        </p:nvSpPr>
        <p:spPr>
          <a:xfrm>
            <a:off x="457200" y="73152"/>
            <a:ext cx="8229600" cy="457200"/>
          </a:xfrm>
          <a:prstGeom prst="rect">
            <a:avLst/>
          </a:prstGeom>
          <a:noFill/>
          <a:ln/>
        </p:spPr>
        <p:txBody>
          <a:bodyPr wrap="square" lIns="0" tIns="0" rIns="0" bIns="0" rtlCol="0" anchor="ctr"/>
          <a:lstStyle/>
          <a:p>
            <a:pPr marL="0" indent="0">
              <a:buNone/>
            </a:pPr>
            <a:r>
              <a:rPr lang="en-US" sz="2000" b="1" dirty="0">
                <a:solidFill>
                  <a:srgbClr val="F0F4FF"/>
                </a:solidFill>
                <a:latin typeface="Calibri" pitchFamily="34" charset="0"/>
                <a:ea typeface="Calibri" pitchFamily="34" charset="-122"/>
                <a:cs typeface="Calibri" pitchFamily="34" charset="-120"/>
              </a:rPr>
              <a:t>Future Enhancements</a:t>
            </a:r>
            <a:endParaRPr lang="en-US" sz="2000" dirty="0"/>
          </a:p>
        </p:txBody>
      </p:sp>
      <p:sp>
        <p:nvSpPr>
          <p:cNvPr id="5" name="Text 3"/>
          <p:cNvSpPr/>
          <p:nvPr/>
        </p:nvSpPr>
        <p:spPr>
          <a:xfrm>
            <a:off x="457200" y="658368"/>
            <a:ext cx="8229600" cy="256032"/>
          </a:xfrm>
          <a:prstGeom prst="rect">
            <a:avLst/>
          </a:prstGeom>
          <a:noFill/>
          <a:ln/>
        </p:spPr>
        <p:txBody>
          <a:bodyPr wrap="square" lIns="0" tIns="0" rIns="0" bIns="0" rtlCol="0" anchor="ctr"/>
          <a:lstStyle/>
          <a:p>
            <a:pPr marL="0" indent="0">
              <a:buNone/>
            </a:pPr>
            <a:r>
              <a:rPr lang="en-US" sz="1100" dirty="0">
                <a:solidFill>
                  <a:srgbClr val="8B9AB5"/>
                </a:solidFill>
                <a:latin typeface="Calibri" pitchFamily="34" charset="0"/>
                <a:ea typeface="Calibri" pitchFamily="34" charset="-122"/>
                <a:cs typeface="Calibri" pitchFamily="34" charset="-120"/>
              </a:rPr>
              <a:t>Recommendations for deeper analysis and business improvements</a:t>
            </a:r>
            <a:endParaRPr lang="en-US" sz="1100" dirty="0"/>
          </a:p>
        </p:txBody>
      </p:sp>
      <p:sp>
        <p:nvSpPr>
          <p:cNvPr id="6" name="Shape 4"/>
          <p:cNvSpPr/>
          <p:nvPr/>
        </p:nvSpPr>
        <p:spPr>
          <a:xfrm>
            <a:off x="0" y="4956048"/>
            <a:ext cx="9144000" cy="182880"/>
          </a:xfrm>
          <a:prstGeom prst="rect">
            <a:avLst/>
          </a:prstGeom>
          <a:solidFill>
            <a:srgbClr val="0F1E3C"/>
          </a:solidFill>
          <a:ln w="12700">
            <a:solidFill>
              <a:srgbClr val="0F1E3C"/>
            </a:solidFill>
            <a:prstDash val="solid"/>
          </a:ln>
        </p:spPr>
      </p:sp>
      <p:sp>
        <p:nvSpPr>
          <p:cNvPr id="7" name="Text 5"/>
          <p:cNvSpPr/>
          <p:nvPr/>
        </p:nvSpPr>
        <p:spPr>
          <a:xfrm>
            <a:off x="274320" y="4974336"/>
            <a:ext cx="8595360" cy="146304"/>
          </a:xfrm>
          <a:prstGeom prst="rect">
            <a:avLst/>
          </a:prstGeom>
          <a:noFill/>
          <a:ln/>
        </p:spPr>
        <p:txBody>
          <a:bodyPr wrap="square" lIns="0" tIns="0" rIns="0" bIns="0" rtlCol="0" anchor="ctr"/>
          <a:lstStyle/>
          <a:p>
            <a:pPr marL="0" indent="0">
              <a:buNone/>
            </a:pPr>
            <a:r>
              <a:rPr lang="en-US" sz="800" dirty="0">
                <a:solidFill>
                  <a:srgbClr val="8B9AB5"/>
                </a:solidFill>
                <a:latin typeface="Calibri" pitchFamily="34" charset="0"/>
                <a:ea typeface="Calibri" pitchFamily="34" charset="-122"/>
                <a:cs typeface="Calibri" pitchFamily="34" charset="-120"/>
              </a:rPr>
              <a:t>Electronics Sales Analysis  |  Sep 2023 – Sep 2024  |  Kaggle Dataset  |  20,000 Records</a:t>
            </a:r>
            <a:endParaRPr lang="en-US" sz="800" dirty="0"/>
          </a:p>
        </p:txBody>
      </p:sp>
      <p:sp>
        <p:nvSpPr>
          <p:cNvPr id="8" name="Shape 6"/>
          <p:cNvSpPr/>
          <p:nvPr/>
        </p:nvSpPr>
        <p:spPr>
          <a:xfrm>
            <a:off x="274320" y="1005840"/>
            <a:ext cx="4160520" cy="11430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9" name="Shape 7"/>
          <p:cNvSpPr/>
          <p:nvPr/>
        </p:nvSpPr>
        <p:spPr>
          <a:xfrm>
            <a:off x="274320" y="1005840"/>
            <a:ext cx="54864" cy="1143000"/>
          </a:xfrm>
          <a:prstGeom prst="rect">
            <a:avLst/>
          </a:prstGeom>
          <a:solidFill>
            <a:srgbClr val="E05757"/>
          </a:solidFill>
          <a:ln w="12700">
            <a:solidFill>
              <a:srgbClr val="E05757"/>
            </a:solidFill>
            <a:prstDash val="solid"/>
          </a:ln>
        </p:spPr>
      </p:sp>
      <p:sp>
        <p:nvSpPr>
          <p:cNvPr id="10" name="Text 8"/>
          <p:cNvSpPr/>
          <p:nvPr/>
        </p:nvSpPr>
        <p:spPr>
          <a:xfrm>
            <a:off x="438912" y="1097280"/>
            <a:ext cx="3840480" cy="320040"/>
          </a:xfrm>
          <a:prstGeom prst="rect">
            <a:avLst/>
          </a:prstGeom>
          <a:noFill/>
          <a:ln/>
        </p:spPr>
        <p:txBody>
          <a:bodyPr wrap="square" lIns="0" tIns="0" rIns="0" bIns="0" rtlCol="0" anchor="ctr"/>
          <a:lstStyle/>
          <a:p>
            <a:pPr marL="0" indent="0">
              <a:buNone/>
            </a:pPr>
            <a:r>
              <a:rPr lang="en-US" sz="1150" b="1" dirty="0">
                <a:solidFill>
                  <a:srgbClr val="E05757"/>
                </a:solidFill>
                <a:latin typeface="Calibri" pitchFamily="34" charset="0"/>
                <a:ea typeface="Calibri" pitchFamily="34" charset="-122"/>
                <a:cs typeface="Calibri" pitchFamily="34" charset="-120"/>
              </a:rPr>
              <a:t>Cancellation Root Cause Analysis</a:t>
            </a:r>
            <a:endParaRPr lang="en-US" sz="1150" dirty="0"/>
          </a:p>
        </p:txBody>
      </p:sp>
      <p:sp>
        <p:nvSpPr>
          <p:cNvPr id="11" name="Text 9"/>
          <p:cNvSpPr/>
          <p:nvPr/>
        </p:nvSpPr>
        <p:spPr>
          <a:xfrm>
            <a:off x="438912" y="146304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Deep-dive into which products, payment methods, or shipping types correlate most with cancellations.</a:t>
            </a:r>
            <a:endParaRPr lang="en-US" sz="1000" dirty="0"/>
          </a:p>
        </p:txBody>
      </p:sp>
      <p:sp>
        <p:nvSpPr>
          <p:cNvPr id="12" name="Shape 10"/>
          <p:cNvSpPr/>
          <p:nvPr/>
        </p:nvSpPr>
        <p:spPr>
          <a:xfrm>
            <a:off x="274320" y="2267712"/>
            <a:ext cx="4160520" cy="11430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3" name="Shape 11"/>
          <p:cNvSpPr/>
          <p:nvPr/>
        </p:nvSpPr>
        <p:spPr>
          <a:xfrm>
            <a:off x="274320" y="2267712"/>
            <a:ext cx="54864" cy="1143000"/>
          </a:xfrm>
          <a:prstGeom prst="rect">
            <a:avLst/>
          </a:prstGeom>
          <a:solidFill>
            <a:srgbClr val="00C2CB"/>
          </a:solidFill>
          <a:ln w="12700">
            <a:solidFill>
              <a:srgbClr val="00C2CB"/>
            </a:solidFill>
            <a:prstDash val="solid"/>
          </a:ln>
        </p:spPr>
      </p:sp>
      <p:sp>
        <p:nvSpPr>
          <p:cNvPr id="14" name="Text 12"/>
          <p:cNvSpPr/>
          <p:nvPr/>
        </p:nvSpPr>
        <p:spPr>
          <a:xfrm>
            <a:off x="438912" y="2359152"/>
            <a:ext cx="3840480" cy="320040"/>
          </a:xfrm>
          <a:prstGeom prst="rect">
            <a:avLst/>
          </a:prstGeom>
          <a:noFill/>
          <a:ln/>
        </p:spPr>
        <p:txBody>
          <a:bodyPr wrap="square" lIns="0" tIns="0" rIns="0" bIns="0" rtlCol="0" anchor="ctr"/>
          <a:lstStyle/>
          <a:p>
            <a:pPr marL="0" indent="0">
              <a:buNone/>
            </a:pPr>
            <a:r>
              <a:rPr lang="en-US" sz="1150" b="1" dirty="0">
                <a:solidFill>
                  <a:srgbClr val="00C2CB"/>
                </a:solidFill>
                <a:latin typeface="Calibri" pitchFamily="34" charset="0"/>
                <a:ea typeface="Calibri" pitchFamily="34" charset="-122"/>
                <a:cs typeface="Calibri" pitchFamily="34" charset="-120"/>
              </a:rPr>
              <a:t>Predictive Churn Modeling</a:t>
            </a:r>
            <a:endParaRPr lang="en-US" sz="1150" dirty="0"/>
          </a:p>
        </p:txBody>
      </p:sp>
      <p:sp>
        <p:nvSpPr>
          <p:cNvPr id="15" name="Text 13"/>
          <p:cNvSpPr/>
          <p:nvPr/>
        </p:nvSpPr>
        <p:spPr>
          <a:xfrm>
            <a:off x="438912" y="2724912"/>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Build ML models to identify customers likely to cancel or leave the loyalty program before it happens.</a:t>
            </a:r>
            <a:endParaRPr lang="en-US" sz="1000" dirty="0"/>
          </a:p>
        </p:txBody>
      </p:sp>
      <p:sp>
        <p:nvSpPr>
          <p:cNvPr id="16" name="Shape 14"/>
          <p:cNvSpPr/>
          <p:nvPr/>
        </p:nvSpPr>
        <p:spPr>
          <a:xfrm>
            <a:off x="274320" y="3529584"/>
            <a:ext cx="4160520" cy="11430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17" name="Shape 15"/>
          <p:cNvSpPr/>
          <p:nvPr/>
        </p:nvSpPr>
        <p:spPr>
          <a:xfrm>
            <a:off x="274320" y="3529584"/>
            <a:ext cx="54864" cy="1143000"/>
          </a:xfrm>
          <a:prstGeom prst="rect">
            <a:avLst/>
          </a:prstGeom>
          <a:solidFill>
            <a:srgbClr val="F5A623"/>
          </a:solidFill>
          <a:ln w="12700">
            <a:solidFill>
              <a:srgbClr val="F5A623"/>
            </a:solidFill>
            <a:prstDash val="solid"/>
          </a:ln>
        </p:spPr>
      </p:sp>
      <p:sp>
        <p:nvSpPr>
          <p:cNvPr id="18" name="Text 16"/>
          <p:cNvSpPr/>
          <p:nvPr/>
        </p:nvSpPr>
        <p:spPr>
          <a:xfrm>
            <a:off x="438912" y="3621024"/>
            <a:ext cx="3840480" cy="320040"/>
          </a:xfrm>
          <a:prstGeom prst="rect">
            <a:avLst/>
          </a:prstGeom>
          <a:noFill/>
          <a:ln/>
        </p:spPr>
        <p:txBody>
          <a:bodyPr wrap="square" lIns="0" tIns="0" rIns="0" bIns="0" rtlCol="0" anchor="ctr"/>
          <a:lstStyle/>
          <a:p>
            <a:pPr marL="0" indent="0">
              <a:buNone/>
            </a:pPr>
            <a:r>
              <a:rPr lang="en-US" sz="1150" b="1" dirty="0">
                <a:solidFill>
                  <a:srgbClr val="F5A623"/>
                </a:solidFill>
                <a:latin typeface="Calibri" pitchFamily="34" charset="0"/>
                <a:ea typeface="Calibri" pitchFamily="34" charset="-122"/>
                <a:cs typeface="Calibri" pitchFamily="34" charset="-120"/>
              </a:rPr>
              <a:t>Loyalty Program Expansion</a:t>
            </a:r>
            <a:endParaRPr lang="en-US" sz="1150" dirty="0"/>
          </a:p>
        </p:txBody>
      </p:sp>
      <p:sp>
        <p:nvSpPr>
          <p:cNvPr id="19" name="Text 17"/>
          <p:cNvSpPr/>
          <p:nvPr/>
        </p:nvSpPr>
        <p:spPr>
          <a:xfrm>
            <a:off x="438912" y="3986784"/>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Design targeted campaigns to convert the 78.3% non-loyalty customers, especially the high-value 65+ segment.</a:t>
            </a:r>
            <a:endParaRPr lang="en-US" sz="1000" dirty="0"/>
          </a:p>
        </p:txBody>
      </p:sp>
      <p:sp>
        <p:nvSpPr>
          <p:cNvPr id="20" name="Shape 18"/>
          <p:cNvSpPr/>
          <p:nvPr/>
        </p:nvSpPr>
        <p:spPr>
          <a:xfrm>
            <a:off x="4709160" y="1005840"/>
            <a:ext cx="4160520" cy="11430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1" name="Shape 19"/>
          <p:cNvSpPr/>
          <p:nvPr/>
        </p:nvSpPr>
        <p:spPr>
          <a:xfrm>
            <a:off x="4709160" y="1005840"/>
            <a:ext cx="54864" cy="1143000"/>
          </a:xfrm>
          <a:prstGeom prst="rect">
            <a:avLst/>
          </a:prstGeom>
          <a:solidFill>
            <a:srgbClr val="2ECC97"/>
          </a:solidFill>
          <a:ln w="12700">
            <a:solidFill>
              <a:srgbClr val="2ECC97"/>
            </a:solidFill>
            <a:prstDash val="solid"/>
          </a:ln>
        </p:spPr>
      </p:sp>
      <p:sp>
        <p:nvSpPr>
          <p:cNvPr id="22" name="Text 20"/>
          <p:cNvSpPr/>
          <p:nvPr/>
        </p:nvSpPr>
        <p:spPr>
          <a:xfrm>
            <a:off x="4873752" y="1097280"/>
            <a:ext cx="3840480" cy="320040"/>
          </a:xfrm>
          <a:prstGeom prst="rect">
            <a:avLst/>
          </a:prstGeom>
          <a:noFill/>
          <a:ln/>
        </p:spPr>
        <p:txBody>
          <a:bodyPr wrap="square" lIns="0" tIns="0" rIns="0" bIns="0" rtlCol="0" anchor="ctr"/>
          <a:lstStyle/>
          <a:p>
            <a:pPr marL="0" indent="0">
              <a:buNone/>
            </a:pPr>
            <a:r>
              <a:rPr lang="en-US" sz="1150" b="1" dirty="0">
                <a:solidFill>
                  <a:srgbClr val="2ECC97"/>
                </a:solidFill>
                <a:latin typeface="Calibri" pitchFamily="34" charset="0"/>
                <a:ea typeface="Calibri" pitchFamily="34" charset="-122"/>
                <a:cs typeface="Calibri" pitchFamily="34" charset="-120"/>
              </a:rPr>
              <a:t>Product Bundling Strategy</a:t>
            </a:r>
            <a:endParaRPr lang="en-US" sz="1150" dirty="0"/>
          </a:p>
        </p:txBody>
      </p:sp>
      <p:sp>
        <p:nvSpPr>
          <p:cNvPr id="23" name="Text 21"/>
          <p:cNvSpPr/>
          <p:nvPr/>
        </p:nvSpPr>
        <p:spPr>
          <a:xfrm>
            <a:off x="4873752" y="1463040"/>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Combine low-AOV items (Headphones) with high-performing categories (Smartphones) to increase basket size.</a:t>
            </a:r>
            <a:endParaRPr lang="en-US" sz="1000" dirty="0"/>
          </a:p>
        </p:txBody>
      </p:sp>
      <p:sp>
        <p:nvSpPr>
          <p:cNvPr id="24" name="Shape 22"/>
          <p:cNvSpPr/>
          <p:nvPr/>
        </p:nvSpPr>
        <p:spPr>
          <a:xfrm>
            <a:off x="4709160" y="2267712"/>
            <a:ext cx="4160520" cy="11430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5" name="Shape 23"/>
          <p:cNvSpPr/>
          <p:nvPr/>
        </p:nvSpPr>
        <p:spPr>
          <a:xfrm>
            <a:off x="4709160" y="2267712"/>
            <a:ext cx="54864" cy="1143000"/>
          </a:xfrm>
          <a:prstGeom prst="rect">
            <a:avLst/>
          </a:prstGeom>
          <a:solidFill>
            <a:srgbClr val="1D6FA4"/>
          </a:solidFill>
          <a:ln w="12700">
            <a:solidFill>
              <a:srgbClr val="1D6FA4"/>
            </a:solidFill>
            <a:prstDash val="solid"/>
          </a:ln>
        </p:spPr>
      </p:sp>
      <p:sp>
        <p:nvSpPr>
          <p:cNvPr id="26" name="Text 24"/>
          <p:cNvSpPr/>
          <p:nvPr/>
        </p:nvSpPr>
        <p:spPr>
          <a:xfrm>
            <a:off x="4873752" y="2359152"/>
            <a:ext cx="3840480" cy="320040"/>
          </a:xfrm>
          <a:prstGeom prst="rect">
            <a:avLst/>
          </a:prstGeom>
          <a:noFill/>
          <a:ln/>
        </p:spPr>
        <p:txBody>
          <a:bodyPr wrap="square" lIns="0" tIns="0" rIns="0" bIns="0" rtlCol="0" anchor="ctr"/>
          <a:lstStyle/>
          <a:p>
            <a:pPr marL="0" indent="0">
              <a:buNone/>
            </a:pPr>
            <a:r>
              <a:rPr lang="en-US" sz="1150" b="1" dirty="0">
                <a:solidFill>
                  <a:srgbClr val="1D6FA4"/>
                </a:solidFill>
                <a:latin typeface="Calibri" pitchFamily="34" charset="0"/>
                <a:ea typeface="Calibri" pitchFamily="34" charset="-122"/>
                <a:cs typeface="Calibri" pitchFamily="34" charset="-120"/>
              </a:rPr>
              <a:t>Geographic Segmentation</a:t>
            </a:r>
            <a:endParaRPr lang="en-US" sz="1150" dirty="0"/>
          </a:p>
        </p:txBody>
      </p:sp>
      <p:sp>
        <p:nvSpPr>
          <p:cNvPr id="27" name="Text 25"/>
          <p:cNvSpPr/>
          <p:nvPr/>
        </p:nvSpPr>
        <p:spPr>
          <a:xfrm>
            <a:off x="4873752" y="2724912"/>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Incorporate regional/city-level data to identify top-performing markets and optimise shipping logistics.</a:t>
            </a:r>
            <a:endParaRPr lang="en-US" sz="1000" dirty="0"/>
          </a:p>
        </p:txBody>
      </p:sp>
      <p:sp>
        <p:nvSpPr>
          <p:cNvPr id="28" name="Shape 26"/>
          <p:cNvSpPr/>
          <p:nvPr/>
        </p:nvSpPr>
        <p:spPr>
          <a:xfrm>
            <a:off x="4709160" y="3529584"/>
            <a:ext cx="4160520" cy="1143000"/>
          </a:xfrm>
          <a:prstGeom prst="rect">
            <a:avLst/>
          </a:prstGeom>
          <a:solidFill>
            <a:srgbClr val="132038"/>
          </a:solidFill>
          <a:ln w="12700">
            <a:solidFill>
              <a:srgbClr val="1E3558"/>
            </a:solidFill>
            <a:prstDash val="solid"/>
          </a:ln>
          <a:effectLst>
            <a:outerShdw blurRad="101600" dist="38100" dir="8100000" algn="bl" rotWithShape="0">
              <a:srgbClr val="000000">
                <a:alpha val="20000"/>
              </a:srgbClr>
            </a:outerShdw>
          </a:effectLst>
        </p:spPr>
      </p:sp>
      <p:sp>
        <p:nvSpPr>
          <p:cNvPr id="29" name="Shape 27"/>
          <p:cNvSpPr/>
          <p:nvPr/>
        </p:nvSpPr>
        <p:spPr>
          <a:xfrm>
            <a:off x="4709160" y="3529584"/>
            <a:ext cx="54864" cy="1143000"/>
          </a:xfrm>
          <a:prstGeom prst="rect">
            <a:avLst/>
          </a:prstGeom>
          <a:solidFill>
            <a:srgbClr val="F5A623"/>
          </a:solidFill>
          <a:ln w="12700">
            <a:solidFill>
              <a:srgbClr val="F5A623"/>
            </a:solidFill>
            <a:prstDash val="solid"/>
          </a:ln>
        </p:spPr>
      </p:sp>
      <p:sp>
        <p:nvSpPr>
          <p:cNvPr id="30" name="Text 28"/>
          <p:cNvSpPr/>
          <p:nvPr/>
        </p:nvSpPr>
        <p:spPr>
          <a:xfrm>
            <a:off x="4873752" y="3621024"/>
            <a:ext cx="3840480" cy="320040"/>
          </a:xfrm>
          <a:prstGeom prst="rect">
            <a:avLst/>
          </a:prstGeom>
          <a:noFill/>
          <a:ln/>
        </p:spPr>
        <p:txBody>
          <a:bodyPr wrap="square" lIns="0" tIns="0" rIns="0" bIns="0" rtlCol="0" anchor="ctr"/>
          <a:lstStyle/>
          <a:p>
            <a:pPr marL="0" indent="0">
              <a:buNone/>
            </a:pPr>
            <a:r>
              <a:rPr lang="en-US" sz="1150" b="1" dirty="0">
                <a:solidFill>
                  <a:srgbClr val="F5A623"/>
                </a:solidFill>
                <a:latin typeface="Calibri" pitchFamily="34" charset="0"/>
                <a:ea typeface="Calibri" pitchFamily="34" charset="-122"/>
                <a:cs typeface="Calibri" pitchFamily="34" charset="-120"/>
              </a:rPr>
              <a:t>Rating Improvement Program</a:t>
            </a:r>
            <a:endParaRPr lang="en-US" sz="1150" dirty="0"/>
          </a:p>
        </p:txBody>
      </p:sp>
      <p:sp>
        <p:nvSpPr>
          <p:cNvPr id="31" name="Text 29"/>
          <p:cNvSpPr/>
          <p:nvPr/>
        </p:nvSpPr>
        <p:spPr>
          <a:xfrm>
            <a:off x="4873752" y="3986784"/>
            <a:ext cx="3840480" cy="594360"/>
          </a:xfrm>
          <a:prstGeom prst="rect">
            <a:avLst/>
          </a:prstGeom>
          <a:noFill/>
          <a:ln/>
        </p:spPr>
        <p:txBody>
          <a:bodyPr wrap="square" lIns="0" tIns="0" rIns="0" bIns="0" rtlCol="0" anchor="ctr"/>
          <a:lstStyle/>
          <a:p>
            <a:pPr marL="0" indent="0">
              <a:buNone/>
            </a:pPr>
            <a:r>
              <a:rPr lang="en-US" sz="1000" dirty="0">
                <a:solidFill>
                  <a:srgbClr val="8B9AB5"/>
                </a:solidFill>
                <a:latin typeface="Calibri" pitchFamily="34" charset="0"/>
                <a:ea typeface="Calibri" pitchFamily="34" charset="-122"/>
                <a:cs typeface="Calibri" pitchFamily="34" charset="-120"/>
              </a:rPr>
              <a:t>Ratings average just 3.09/5. A post-purchase feedback loop and quality program could push this above 4.0.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0B1120"/>
        </a:solidFill>
        <a:effectLst/>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0B1120"/>
          </a:solidFill>
          <a:ln w="12700">
            <a:solidFill>
              <a:srgbClr val="0B1120"/>
            </a:solidFill>
            <a:prstDash val="solid"/>
          </a:ln>
        </p:spPr>
      </p:sp>
      <p:sp>
        <p:nvSpPr>
          <p:cNvPr id="3" name="Shape 1"/>
          <p:cNvSpPr/>
          <p:nvPr/>
        </p:nvSpPr>
        <p:spPr>
          <a:xfrm>
            <a:off x="0" y="0"/>
            <a:ext cx="457200" cy="5143500"/>
          </a:xfrm>
          <a:prstGeom prst="rect">
            <a:avLst/>
          </a:prstGeom>
          <a:solidFill>
            <a:srgbClr val="00C2CB"/>
          </a:solidFill>
          <a:ln w="12700">
            <a:solidFill>
              <a:srgbClr val="00C2CB"/>
            </a:solidFill>
            <a:prstDash val="solid"/>
          </a:ln>
        </p:spPr>
      </p:sp>
      <p:sp>
        <p:nvSpPr>
          <p:cNvPr id="4" name="Shape 2"/>
          <p:cNvSpPr/>
          <p:nvPr/>
        </p:nvSpPr>
        <p:spPr>
          <a:xfrm>
            <a:off x="8686800" y="0"/>
            <a:ext cx="457200" cy="5143500"/>
          </a:xfrm>
          <a:prstGeom prst="rect">
            <a:avLst/>
          </a:prstGeom>
          <a:solidFill>
            <a:srgbClr val="00C2CB"/>
          </a:solidFill>
          <a:ln w="12700">
            <a:solidFill>
              <a:srgbClr val="00C2CB"/>
            </a:solidFill>
            <a:prstDash val="solid"/>
          </a:ln>
        </p:spPr>
      </p:sp>
      <p:sp>
        <p:nvSpPr>
          <p:cNvPr id="5" name="Shape 3"/>
          <p:cNvSpPr/>
          <p:nvPr/>
        </p:nvSpPr>
        <p:spPr>
          <a:xfrm>
            <a:off x="457200" y="4754880"/>
            <a:ext cx="8229600" cy="320040"/>
          </a:xfrm>
          <a:prstGeom prst="rect">
            <a:avLst/>
          </a:prstGeom>
          <a:solidFill>
            <a:srgbClr val="0F1E3C"/>
          </a:solidFill>
          <a:ln w="12700">
            <a:solidFill>
              <a:srgbClr val="0F1E3C"/>
            </a:solidFill>
            <a:prstDash val="solid"/>
          </a:ln>
        </p:spPr>
      </p:sp>
      <p:sp>
        <p:nvSpPr>
          <p:cNvPr id="6" name="Text 4"/>
          <p:cNvSpPr/>
          <p:nvPr/>
        </p:nvSpPr>
        <p:spPr>
          <a:xfrm>
            <a:off x="914400" y="1097280"/>
            <a:ext cx="7315200" cy="914400"/>
          </a:xfrm>
          <a:prstGeom prst="rect">
            <a:avLst/>
          </a:prstGeom>
          <a:noFill/>
          <a:ln/>
        </p:spPr>
        <p:txBody>
          <a:bodyPr wrap="square" lIns="0" tIns="0" rIns="0" bIns="0" rtlCol="0" anchor="ctr"/>
          <a:lstStyle/>
          <a:p>
            <a:pPr marL="0" indent="0" algn="ctr">
              <a:buNone/>
            </a:pPr>
            <a:r>
              <a:rPr lang="en-US" sz="5400" b="1" kern="0" spc="1000" dirty="0">
                <a:solidFill>
                  <a:srgbClr val="00C2CB"/>
                </a:solidFill>
                <a:latin typeface="Calibri" pitchFamily="34" charset="0"/>
                <a:ea typeface="Calibri" pitchFamily="34" charset="-122"/>
                <a:cs typeface="Calibri" pitchFamily="34" charset="-120"/>
              </a:rPr>
              <a:t>THANK YOU</a:t>
            </a:r>
            <a:endParaRPr lang="en-US" sz="5400" dirty="0"/>
          </a:p>
        </p:txBody>
      </p:sp>
      <p:sp>
        <p:nvSpPr>
          <p:cNvPr id="7" name="Text 5"/>
          <p:cNvSpPr/>
          <p:nvPr/>
        </p:nvSpPr>
        <p:spPr>
          <a:xfrm>
            <a:off x="914400" y="2011680"/>
            <a:ext cx="7315200" cy="457200"/>
          </a:xfrm>
          <a:prstGeom prst="rect">
            <a:avLst/>
          </a:prstGeom>
          <a:noFill/>
          <a:ln/>
        </p:spPr>
        <p:txBody>
          <a:bodyPr wrap="square" lIns="0" tIns="0" rIns="0" bIns="0" rtlCol="0" anchor="ctr"/>
          <a:lstStyle/>
          <a:p>
            <a:pPr marL="0" indent="0" algn="ctr">
              <a:buNone/>
            </a:pPr>
            <a:r>
              <a:rPr lang="en-US" sz="2000" dirty="0">
                <a:solidFill>
                  <a:srgbClr val="F0F4FF"/>
                </a:solidFill>
                <a:latin typeface="Calibri" pitchFamily="34" charset="0"/>
                <a:ea typeface="Calibri" pitchFamily="34" charset="-122"/>
                <a:cs typeface="Calibri" pitchFamily="34" charset="-120"/>
              </a:rPr>
              <a:t>for your attention</a:t>
            </a:r>
            <a:endParaRPr lang="en-US" sz="2000" dirty="0"/>
          </a:p>
        </p:txBody>
      </p:sp>
      <p:sp>
        <p:nvSpPr>
          <p:cNvPr id="8" name="Shape 6"/>
          <p:cNvSpPr/>
          <p:nvPr/>
        </p:nvSpPr>
        <p:spPr>
          <a:xfrm>
            <a:off x="2743200" y="2743200"/>
            <a:ext cx="3657600" cy="36576"/>
          </a:xfrm>
          <a:prstGeom prst="rect">
            <a:avLst/>
          </a:prstGeom>
          <a:solidFill>
            <a:srgbClr val="00C2CB"/>
          </a:solidFill>
          <a:ln w="12700">
            <a:solidFill>
              <a:srgbClr val="00C2CB"/>
            </a:solidFill>
            <a:prstDash val="solid"/>
          </a:ln>
        </p:spPr>
      </p:sp>
      <p:sp>
        <p:nvSpPr>
          <p:cNvPr id="9" name="Shape 7"/>
          <p:cNvSpPr/>
          <p:nvPr/>
        </p:nvSpPr>
        <p:spPr>
          <a:xfrm>
            <a:off x="1005840" y="3017520"/>
            <a:ext cx="1280160" cy="777240"/>
          </a:xfrm>
          <a:prstGeom prst="rect">
            <a:avLst/>
          </a:prstGeom>
          <a:solidFill>
            <a:srgbClr val="132038"/>
          </a:solidFill>
          <a:ln w="12700">
            <a:solidFill>
              <a:srgbClr val="1E3558"/>
            </a:solidFill>
            <a:prstDash val="solid"/>
          </a:ln>
        </p:spPr>
      </p:sp>
      <p:sp>
        <p:nvSpPr>
          <p:cNvPr id="10" name="Text 8"/>
          <p:cNvSpPr/>
          <p:nvPr/>
        </p:nvSpPr>
        <p:spPr>
          <a:xfrm>
            <a:off x="1005840" y="3063240"/>
            <a:ext cx="1280160" cy="685800"/>
          </a:xfrm>
          <a:prstGeom prst="rect">
            <a:avLst/>
          </a:prstGeom>
          <a:noFill/>
          <a:ln/>
        </p:spPr>
        <p:txBody>
          <a:bodyPr wrap="square" lIns="0" tIns="0" rIns="0" bIns="0" rtlCol="0" anchor="ctr"/>
          <a:lstStyle/>
          <a:p>
            <a:pPr marL="0" indent="0" algn="ctr">
              <a:buNone/>
            </a:pPr>
            <a:r>
              <a:rPr lang="en-US" sz="900" dirty="0">
                <a:solidFill>
                  <a:srgbClr val="00C2CB"/>
                </a:solidFill>
                <a:latin typeface="Calibri" pitchFamily="34" charset="0"/>
                <a:ea typeface="Calibri" pitchFamily="34" charset="-122"/>
                <a:cs typeface="Calibri" pitchFamily="34" charset="-120"/>
              </a:rPr>
              <a:t>$63.6M Total Revenue</a:t>
            </a:r>
            <a:endParaRPr lang="en-US" sz="900" dirty="0"/>
          </a:p>
        </p:txBody>
      </p:sp>
      <p:sp>
        <p:nvSpPr>
          <p:cNvPr id="11" name="Shape 9"/>
          <p:cNvSpPr/>
          <p:nvPr/>
        </p:nvSpPr>
        <p:spPr>
          <a:xfrm>
            <a:off x="2468880" y="3017520"/>
            <a:ext cx="1280160" cy="777240"/>
          </a:xfrm>
          <a:prstGeom prst="rect">
            <a:avLst/>
          </a:prstGeom>
          <a:solidFill>
            <a:srgbClr val="132038"/>
          </a:solidFill>
          <a:ln w="12700">
            <a:solidFill>
              <a:srgbClr val="1E3558"/>
            </a:solidFill>
            <a:prstDash val="solid"/>
          </a:ln>
        </p:spPr>
      </p:sp>
      <p:sp>
        <p:nvSpPr>
          <p:cNvPr id="12" name="Text 10"/>
          <p:cNvSpPr/>
          <p:nvPr/>
        </p:nvSpPr>
        <p:spPr>
          <a:xfrm>
            <a:off x="2468880" y="3063240"/>
            <a:ext cx="1280160" cy="685800"/>
          </a:xfrm>
          <a:prstGeom prst="rect">
            <a:avLst/>
          </a:prstGeom>
          <a:noFill/>
          <a:ln/>
        </p:spPr>
        <p:txBody>
          <a:bodyPr wrap="square" lIns="0" tIns="0" rIns="0" bIns="0" rtlCol="0" anchor="ctr"/>
          <a:lstStyle/>
          <a:p>
            <a:pPr marL="0" indent="0" algn="ctr">
              <a:buNone/>
            </a:pPr>
            <a:r>
              <a:rPr lang="en-US" sz="900" dirty="0">
                <a:solidFill>
                  <a:srgbClr val="00C2CB"/>
                </a:solidFill>
                <a:latin typeface="Calibri" pitchFamily="34" charset="0"/>
                <a:ea typeface="Calibri" pitchFamily="34" charset="-122"/>
                <a:cs typeface="Calibri" pitchFamily="34" charset="-120"/>
              </a:rPr>
              <a:t>20,000 Orders</a:t>
            </a:r>
            <a:endParaRPr lang="en-US" sz="900" dirty="0"/>
          </a:p>
        </p:txBody>
      </p:sp>
      <p:sp>
        <p:nvSpPr>
          <p:cNvPr id="13" name="Shape 11"/>
          <p:cNvSpPr/>
          <p:nvPr/>
        </p:nvSpPr>
        <p:spPr>
          <a:xfrm>
            <a:off x="3931920" y="3017520"/>
            <a:ext cx="1280160" cy="777240"/>
          </a:xfrm>
          <a:prstGeom prst="rect">
            <a:avLst/>
          </a:prstGeom>
          <a:solidFill>
            <a:srgbClr val="132038"/>
          </a:solidFill>
          <a:ln w="12700">
            <a:solidFill>
              <a:srgbClr val="1E3558"/>
            </a:solidFill>
            <a:prstDash val="solid"/>
          </a:ln>
        </p:spPr>
      </p:sp>
      <p:sp>
        <p:nvSpPr>
          <p:cNvPr id="14" name="Text 12"/>
          <p:cNvSpPr/>
          <p:nvPr/>
        </p:nvSpPr>
        <p:spPr>
          <a:xfrm>
            <a:off x="3931920" y="3063240"/>
            <a:ext cx="1280160" cy="685800"/>
          </a:xfrm>
          <a:prstGeom prst="rect">
            <a:avLst/>
          </a:prstGeom>
          <a:noFill/>
          <a:ln/>
        </p:spPr>
        <p:txBody>
          <a:bodyPr wrap="square" lIns="0" tIns="0" rIns="0" bIns="0" rtlCol="0" anchor="ctr"/>
          <a:lstStyle/>
          <a:p>
            <a:pPr marL="0" indent="0" algn="ctr">
              <a:buNone/>
            </a:pPr>
            <a:r>
              <a:rPr lang="en-US" sz="900" dirty="0">
                <a:solidFill>
                  <a:srgbClr val="00C2CB"/>
                </a:solidFill>
                <a:latin typeface="Calibri" pitchFamily="34" charset="0"/>
                <a:ea typeface="Calibri" pitchFamily="34" charset="-122"/>
                <a:cs typeface="Calibri" pitchFamily="34" charset="-120"/>
              </a:rPr>
              <a:t>5 Product Categories</a:t>
            </a:r>
            <a:endParaRPr lang="en-US" sz="900" dirty="0"/>
          </a:p>
        </p:txBody>
      </p:sp>
      <p:sp>
        <p:nvSpPr>
          <p:cNvPr id="15" name="Shape 13"/>
          <p:cNvSpPr/>
          <p:nvPr/>
        </p:nvSpPr>
        <p:spPr>
          <a:xfrm>
            <a:off x="5394960" y="3017520"/>
            <a:ext cx="1280160" cy="777240"/>
          </a:xfrm>
          <a:prstGeom prst="rect">
            <a:avLst/>
          </a:prstGeom>
          <a:solidFill>
            <a:srgbClr val="132038"/>
          </a:solidFill>
          <a:ln w="12700">
            <a:solidFill>
              <a:srgbClr val="1E3558"/>
            </a:solidFill>
            <a:prstDash val="solid"/>
          </a:ln>
        </p:spPr>
      </p:sp>
      <p:sp>
        <p:nvSpPr>
          <p:cNvPr id="16" name="Text 14"/>
          <p:cNvSpPr/>
          <p:nvPr/>
        </p:nvSpPr>
        <p:spPr>
          <a:xfrm>
            <a:off x="5394960" y="3063240"/>
            <a:ext cx="1280160" cy="685800"/>
          </a:xfrm>
          <a:prstGeom prst="rect">
            <a:avLst/>
          </a:prstGeom>
          <a:noFill/>
          <a:ln/>
        </p:spPr>
        <p:txBody>
          <a:bodyPr wrap="square" lIns="0" tIns="0" rIns="0" bIns="0" rtlCol="0" anchor="ctr"/>
          <a:lstStyle/>
          <a:p>
            <a:pPr marL="0" indent="0" algn="ctr">
              <a:buNone/>
            </a:pPr>
            <a:r>
              <a:rPr lang="en-US" sz="900" dirty="0">
                <a:solidFill>
                  <a:srgbClr val="00C2CB"/>
                </a:solidFill>
                <a:latin typeface="Calibri" pitchFamily="34" charset="0"/>
                <a:ea typeface="Calibri" pitchFamily="34" charset="-122"/>
                <a:cs typeface="Calibri" pitchFamily="34" charset="-120"/>
              </a:rPr>
              <a:t>13 Months of Data</a:t>
            </a:r>
            <a:endParaRPr lang="en-US" sz="900" dirty="0"/>
          </a:p>
        </p:txBody>
      </p:sp>
      <p:sp>
        <p:nvSpPr>
          <p:cNvPr id="17" name="Shape 15"/>
          <p:cNvSpPr/>
          <p:nvPr/>
        </p:nvSpPr>
        <p:spPr>
          <a:xfrm>
            <a:off x="6858000" y="3017520"/>
            <a:ext cx="1280160" cy="777240"/>
          </a:xfrm>
          <a:prstGeom prst="rect">
            <a:avLst/>
          </a:prstGeom>
          <a:solidFill>
            <a:srgbClr val="132038"/>
          </a:solidFill>
          <a:ln w="12700">
            <a:solidFill>
              <a:srgbClr val="1E3558"/>
            </a:solidFill>
            <a:prstDash val="solid"/>
          </a:ln>
        </p:spPr>
      </p:sp>
      <p:sp>
        <p:nvSpPr>
          <p:cNvPr id="18" name="Text 16"/>
          <p:cNvSpPr/>
          <p:nvPr/>
        </p:nvSpPr>
        <p:spPr>
          <a:xfrm>
            <a:off x="6858000" y="3063240"/>
            <a:ext cx="1280160" cy="685800"/>
          </a:xfrm>
          <a:prstGeom prst="rect">
            <a:avLst/>
          </a:prstGeom>
          <a:noFill/>
          <a:ln/>
        </p:spPr>
        <p:txBody>
          <a:bodyPr wrap="square" lIns="0" tIns="0" rIns="0" bIns="0" rtlCol="0" anchor="ctr"/>
          <a:lstStyle/>
          <a:p>
            <a:pPr marL="0" indent="0" algn="ctr">
              <a:buNone/>
            </a:pPr>
            <a:r>
              <a:rPr lang="en-US" sz="900" dirty="0">
                <a:solidFill>
                  <a:srgbClr val="00C2CB"/>
                </a:solidFill>
                <a:latin typeface="Calibri" pitchFamily="34" charset="0"/>
                <a:ea typeface="Calibri" pitchFamily="34" charset="-122"/>
                <a:cs typeface="Calibri" pitchFamily="34" charset="-120"/>
              </a:rPr>
              <a:t>Kaggle Dataset</a:t>
            </a:r>
            <a:endParaRPr lang="en-US" sz="900" dirty="0"/>
          </a:p>
        </p:txBody>
      </p:sp>
      <p:sp>
        <p:nvSpPr>
          <p:cNvPr id="19" name="Text 17"/>
          <p:cNvSpPr/>
          <p:nvPr/>
        </p:nvSpPr>
        <p:spPr>
          <a:xfrm>
            <a:off x="914400" y="4773168"/>
            <a:ext cx="7315200" cy="182880"/>
          </a:xfrm>
          <a:prstGeom prst="rect">
            <a:avLst/>
          </a:prstGeom>
          <a:noFill/>
          <a:ln/>
        </p:spPr>
        <p:txBody>
          <a:bodyPr wrap="square" lIns="0" tIns="0" rIns="0" bIns="0" rtlCol="0" anchor="ctr"/>
          <a:lstStyle/>
          <a:p>
            <a:pPr marL="0" indent="0" algn="ctr">
              <a:buNone/>
            </a:pPr>
            <a:r>
              <a:rPr lang="en-US" sz="800" dirty="0">
                <a:solidFill>
                  <a:srgbClr val="8B9AB5"/>
                </a:solidFill>
                <a:latin typeface="Calibri" pitchFamily="34" charset="0"/>
                <a:ea typeface="Calibri" pitchFamily="34" charset="-122"/>
                <a:cs typeface="Calibri" pitchFamily="34" charset="-120"/>
              </a:rPr>
              <a:t>Data sourced from Kaggle  •  Electronics Sales Sep 2023 – Sep 2024  •  Academic Presentation 2024</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29AF8C"/>
      </a:accent1>
      <a:accent2>
        <a:srgbClr val="97BE49"/>
      </a:accent2>
      <a:accent3>
        <a:srgbClr val="3D9CCC"/>
      </a:accent3>
      <a:accent4>
        <a:srgbClr val="7C60C6"/>
      </a:accent4>
      <a:accent5>
        <a:srgbClr val="C9492C"/>
      </a:accent5>
      <a:accent6>
        <a:srgbClr val="D58C2E"/>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3E4F19A7-A959-40BB-972C-4880BAF8EB0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43</TotalTime>
  <Words>1008</Words>
  <Application>Microsoft Office PowerPoint</Application>
  <PresentationFormat>On-screen Show (16:9)</PresentationFormat>
  <Paragraphs>193</Paragraphs>
  <Slides>14</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Electronics Sales Analysis</dc:title>
  <dc:subject>PptxGenJS Presentation</dc:subject>
  <dc:creator>PptxGenJS</dc:creator>
  <cp:lastModifiedBy>Itvedant CR4-15</cp:lastModifiedBy>
  <cp:revision>3</cp:revision>
  <dcterms:created xsi:type="dcterms:W3CDTF">2026-03-09T17:20:12Z</dcterms:created>
  <dcterms:modified xsi:type="dcterms:W3CDTF">2026-03-10T02:23:41Z</dcterms:modified>
</cp:coreProperties>
</file>