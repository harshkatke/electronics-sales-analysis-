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0" r:id="rId13"/>
    <p:sldId id="27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ln w="31750" cap="flat">
              <a:solidFill>
                <a:srgbClr val="00C2C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CB"/>
              </a:solidFill>
              <a:ln w="9525" cap="flat">
                <a:solidFill>
                  <a:srgbClr val="00C2C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Sep'23</c:v>
                </c:pt>
                <c:pt idx="1">
                  <c:v>Oct'23</c:v>
                </c:pt>
                <c:pt idx="2">
                  <c:v>Nov'23</c:v>
                </c:pt>
                <c:pt idx="3">
                  <c:v>Dec'23</c:v>
                </c:pt>
                <c:pt idx="4">
                  <c:v>Jan'24</c:v>
                </c:pt>
                <c:pt idx="5">
                  <c:v>Feb'24</c:v>
                </c:pt>
                <c:pt idx="6">
                  <c:v>Mar'24</c:v>
                </c:pt>
                <c:pt idx="7">
                  <c:v>Apr'24</c:v>
                </c:pt>
                <c:pt idx="8">
                  <c:v>May'24</c:v>
                </c:pt>
                <c:pt idx="9">
                  <c:v>Jun'24</c:v>
                </c:pt>
                <c:pt idx="10">
                  <c:v>Jul'24</c:v>
                </c:pt>
                <c:pt idx="11">
                  <c:v>Aug'24</c:v>
                </c:pt>
                <c:pt idx="12">
                  <c:v>Sep'24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481962</c:v>
                </c:pt>
                <c:pt idx="1">
                  <c:v>2318466</c:v>
                </c:pt>
                <c:pt idx="2">
                  <c:v>2068434</c:v>
                </c:pt>
                <c:pt idx="3">
                  <c:v>1980700</c:v>
                </c:pt>
                <c:pt idx="4">
                  <c:v>6620172</c:v>
                </c:pt>
                <c:pt idx="5">
                  <c:v>5733696</c:v>
                </c:pt>
                <c:pt idx="6">
                  <c:v>6324368</c:v>
                </c:pt>
                <c:pt idx="7">
                  <c:v>6418254</c:v>
                </c:pt>
                <c:pt idx="8">
                  <c:v>6709043</c:v>
                </c:pt>
                <c:pt idx="9">
                  <c:v>6668634</c:v>
                </c:pt>
                <c:pt idx="10">
                  <c:v>6535130</c:v>
                </c:pt>
                <c:pt idx="11">
                  <c:v>6706119</c:v>
                </c:pt>
                <c:pt idx="12">
                  <c:v>5037691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951-4DCA-B33C-B04375A70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Revenue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7B-4627-A940-EA707C7B4661}"/>
              </c:ext>
            </c:extLst>
          </c:dPt>
          <c:dPt>
            <c:idx val="1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7B-4627-A940-EA707C7B4661}"/>
              </c:ext>
            </c:extLst>
          </c:dPt>
          <c:dPt>
            <c:idx val="2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7B-4627-A940-EA707C7B4661}"/>
              </c:ext>
            </c:extLst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7B-4627-A940-EA707C7B4661}"/>
              </c:ext>
            </c:extLst>
          </c:dPt>
          <c:dPt>
            <c:idx val="4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7B-4627-A940-EA707C7B4661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37B-4627-A940-EA707C7B4661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37B-4627-A940-EA707C7B4661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137B-4627-A940-EA707C7B4661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137B-4627-A940-EA707C7B4661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137B-4627-A940-EA707C7B46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Smartphone</c:v>
                </c:pt>
                <c:pt idx="1">
                  <c:v>Smartwatch</c:v>
                </c:pt>
                <c:pt idx="2">
                  <c:v>Laptop</c:v>
                </c:pt>
                <c:pt idx="3">
                  <c:v>Tablet</c:v>
                </c:pt>
                <c:pt idx="4">
                  <c:v>Headphones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21516755</c:v>
                </c:pt>
                <c:pt idx="1">
                  <c:v>14036273</c:v>
                </c:pt>
                <c:pt idx="2">
                  <c:v>12296240</c:v>
                </c:pt>
                <c:pt idx="3">
                  <c:v>11712000</c:v>
                </c:pt>
                <c:pt idx="4">
                  <c:v>4041400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37B-4627-A940-EA707C7B4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8B9AB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Order Count by Product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F3-4C9B-BB57-FE51D6A59721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F3-4C9B-BB57-FE51D6A59721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F3-4C9B-BB57-FE51D6A5972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F3-4C9B-BB57-FE51D6A59721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F3-4C9B-BB57-FE51D6A597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Smartphone</c:v>
                </c:pt>
                <c:pt idx="1">
                  <c:v>Tablet</c:v>
                </c:pt>
                <c:pt idx="2">
                  <c:v>Laptop</c:v>
                </c:pt>
                <c:pt idx="3">
                  <c:v>Smartwatch</c:v>
                </c:pt>
                <c:pt idx="4">
                  <c:v>Headphones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5978</c:v>
                </c:pt>
                <c:pt idx="1">
                  <c:v>4104</c:v>
                </c:pt>
                <c:pt idx="2">
                  <c:v>3973</c:v>
                </c:pt>
                <c:pt idx="3">
                  <c:v>3934</c:v>
                </c:pt>
                <c:pt idx="4">
                  <c:v>2011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F3-4C9B-BB57-FE51D6A597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Gender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1B-41DE-80EC-047910DAEEC1}"/>
              </c:ext>
            </c:extLst>
          </c:dPt>
          <c:dPt>
            <c:idx val="1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1B-41DE-80EC-047910DAEEC1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31B-41DE-80EC-047910DAEEC1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31B-41DE-80EC-047910DAEE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(50.8%)</c:v>
                </c:pt>
                <c:pt idx="1">
                  <c:v>Female (49.2%)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10164</c:v>
                </c:pt>
                <c:pt idx="1">
                  <c:v>9835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1B-41DE-80EC-047910DAE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8B9AB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Orders by Payment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5D-4F52-BB5A-1ED981FCA341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5D-4F52-BB5A-1ED981FCA341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5D-4F52-BB5A-1ED981FCA34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5D-4F52-BB5A-1ED981FCA341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5D-4F52-BB5A-1ED981FCA3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PayPal</c:v>
                </c:pt>
                <c:pt idx="2">
                  <c:v>Bank Transfer</c:v>
                </c:pt>
                <c:pt idx="3">
                  <c:v>Cash</c:v>
                </c:pt>
                <c:pt idx="4">
                  <c:v>Debit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8382</c:v>
                </c:pt>
                <c:pt idx="1">
                  <c:v>5798</c:v>
                </c:pt>
                <c:pt idx="2">
                  <c:v>3371</c:v>
                </c:pt>
                <c:pt idx="3">
                  <c:v>2492</c:v>
                </c:pt>
                <c:pt idx="4">
                  <c:v>2471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45D-4F52-BB5A-1ED981FCA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Shipping Type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Shipping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071-4CCD-8E9B-49154A6AEBBA}"/>
              </c:ext>
            </c:extLst>
          </c:dPt>
          <c:dPt>
            <c:idx val="1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71-4CCD-8E9B-49154A6AEBBA}"/>
              </c:ext>
            </c:extLst>
          </c:dPt>
          <c:dPt>
            <c:idx val="2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71-4CCD-8E9B-49154A6AEBBA}"/>
              </c:ext>
            </c:extLst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71-4CCD-8E9B-49154A6AEBBA}"/>
              </c:ext>
            </c:extLst>
          </c:dPt>
          <c:dPt>
            <c:idx val="4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071-4CCD-8E9B-49154A6AEBBA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071-4CCD-8E9B-49154A6AEBBA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071-4CCD-8E9B-49154A6AEBBA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D071-4CCD-8E9B-49154A6AEBBA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D071-4CCD-8E9B-49154A6AEBBA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D071-4CCD-8E9B-49154A6AEBB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Standard</c:v>
                </c:pt>
                <c:pt idx="1">
                  <c:v>Express</c:v>
                </c:pt>
                <c:pt idx="2">
                  <c:v>Overnight</c:v>
                </c:pt>
                <c:pt idx="3">
                  <c:v>Same Day</c:v>
                </c:pt>
                <c:pt idx="4">
                  <c:v>Expedited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6725</c:v>
                </c:pt>
                <c:pt idx="1">
                  <c:v>3366</c:v>
                </c:pt>
                <c:pt idx="2">
                  <c:v>3357</c:v>
                </c:pt>
                <c:pt idx="3">
                  <c:v>3280</c:v>
                </c:pt>
                <c:pt idx="4">
                  <c:v>3272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071-4CCD-8E9B-49154A6AEB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8B9AB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Add-on Revenue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Add-on Revenue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CD-42A6-ADE5-5DAA8588C9C6}"/>
              </c:ext>
            </c:extLst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CD-42A6-ADE5-5DAA8588C9C6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CD-42A6-ADE5-5DAA8588C9C6}"/>
              </c:ext>
            </c:extLst>
          </c:dPt>
          <c:dPt>
            <c:idx val="3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CD-42A6-ADE5-5DAA8588C9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Accessory</c:v>
                </c:pt>
                <c:pt idx="1">
                  <c:v>Impulse Item</c:v>
                </c:pt>
                <c:pt idx="2">
                  <c:v>Extended Warranty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1350000</c:v>
                </c:pt>
                <c:pt idx="1">
                  <c:v>720000</c:v>
                </c:pt>
                <c:pt idx="2">
                  <c:v>390000</c:v>
                </c:pt>
                <c:pt idx="3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ACD-42A6-ADE5-5DAA8588C9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Customers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38-4FEA-9469-18D13CAA2D67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38-4FEA-9469-18D13CAA2D67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38-4FEA-9469-18D13CAA2D67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138-4FEA-9469-18D13CAA2D67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38-4FEA-9469-18D13CAA2D67}"/>
              </c:ext>
            </c:extLst>
          </c:dPt>
          <c:dPt>
            <c:idx val="5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138-4FEA-9469-18D13CAA2D6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2451</c:v>
                </c:pt>
                <c:pt idx="1">
                  <c:v>3184</c:v>
                </c:pt>
                <c:pt idx="2">
                  <c:v>3306</c:v>
                </c:pt>
                <c:pt idx="3">
                  <c:v>3153</c:v>
                </c:pt>
                <c:pt idx="4">
                  <c:v>3195</c:v>
                </c:pt>
                <c:pt idx="5">
                  <c:v>4711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138-4FEA-9469-18D13CAA2D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0F4FF"/>
                </a:solidFill>
                <a:latin typeface="Arial"/>
              </a:rPr>
              <a:t>Average Rating by Product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6D-44DA-8880-C5BA53684431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6D-44DA-8880-C5BA53684431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6D-44DA-8880-C5BA5368443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6D-44DA-8880-C5BA53684431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6D-44DA-8880-C5BA536844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Smartphone</c:v>
                </c:pt>
                <c:pt idx="1">
                  <c:v>Tablet</c:v>
                </c:pt>
                <c:pt idx="2">
                  <c:v>Laptop</c:v>
                </c:pt>
                <c:pt idx="3">
                  <c:v>Smartwatch</c:v>
                </c:pt>
                <c:pt idx="4">
                  <c:v>Headphones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3.12</c:v>
                </c:pt>
                <c:pt idx="1">
                  <c:v>3.08</c:v>
                </c:pt>
                <c:pt idx="2">
                  <c:v>3.1</c:v>
                </c:pt>
                <c:pt idx="3">
                  <c:v>3.09</c:v>
                </c:pt>
                <c:pt idx="4">
                  <c:v>3.07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6D-44DA-8880-C5BA536844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3"/>
          <c:min val="2.9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34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0"/>
            <a:ext cx="36576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1353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2023 – Sep 2024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analysis of 20,000 electronic sales transactions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Kaggle dataset, covering customer demographics,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performance, and purchasing behavior.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57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905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5080" y="1216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82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1993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42316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59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Months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770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36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3547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14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55080" y="43251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Academic Presentation  •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context, and key variables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was sourced from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Electronics Sales (Sep 2023 – Sep 2024)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19659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350008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825496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(numeric)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300984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(M/F)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776472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 (Yes/No)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1828800"/>
            <a:ext cx="19659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24328" y="2350008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24328" y="2825496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234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(unique code)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24328" y="3300984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24328" y="3776472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828800"/>
            <a:ext cx="1965960" cy="73152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2350008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2825496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3300984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3776472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228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12280" y="1828800"/>
            <a:ext cx="1965960" cy="731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22008" y="2350008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002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22008" y="2825496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002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Purchased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22008" y="3300984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002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Total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22008" y="3776472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002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volume per calendar month (Sep 2023 – Sep 2024)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0584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4988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Jan 2024 was the strongest month ($6.62M). Sep 2023 was a partial month ($0.48M). Revenue stabilised at ~$6.5M/month throughout mid-2024.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 Distribution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share by product 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4114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572000" y="914400"/>
          <a:ext cx="4297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Gender Insights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patterns segmented by gender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389120" y="960120"/>
            <a:ext cx="438912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960120"/>
            <a:ext cx="4389120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10698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26280" y="1307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10,164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26280" y="1856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50.82% of all buyers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0" y="2286000"/>
            <a:ext cx="438912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9120" y="2286000"/>
            <a:ext cx="438912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23957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26280" y="2633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9,835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4526280" y="31821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49.18% of all buyers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89120" y="3611880"/>
            <a:ext cx="438912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0" y="3611880"/>
            <a:ext cx="43891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721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NOTE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26280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526280" y="4507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50/50 was corrected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prefer to pay for their electronics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9601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960120"/>
            <a:ext cx="54864" cy="7772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9875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8745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1874520"/>
            <a:ext cx="54864" cy="7772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6364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27889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2788920"/>
            <a:ext cx="54864" cy="77724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2816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63640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37033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370332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3730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26364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Debit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shipping methods chosen by customers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005840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005840"/>
            <a:ext cx="54864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0424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1042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6,725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share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1719072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1719072"/>
            <a:ext cx="54864" cy="5943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0920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share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2432304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2432304"/>
            <a:ext cx="54864" cy="59436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6092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3,357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06440" y="2752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share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69280" y="3145536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3145536"/>
            <a:ext cx="54864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6092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3,280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806440" y="3465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 share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0" y="3858768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3858768"/>
            <a:ext cx="54864" cy="594360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6092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806440" y="4178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 share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Revenue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accessories and extended warranty on total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005840"/>
            <a:ext cx="256032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005840"/>
            <a:ext cx="2560320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464291987"/>
              </p:ext>
            </p:extLst>
          </p:nvPr>
        </p:nvGraphicFramePr>
        <p:xfrm>
          <a:off x="182880" y="1655064"/>
          <a:ext cx="8412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&amp; Loyalty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breakdown and loyalty program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914400"/>
            <a:ext cx="320040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914400"/>
            <a:ext cx="32004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024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06440" y="12618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06440" y="1810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 of all customers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2286000"/>
            <a:ext cx="320040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2286000"/>
            <a:ext cx="3200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REVENUE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806440" y="2633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$13.6M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806440" y="3182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 of total revenue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3520440"/>
            <a:ext cx="320040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3520440"/>
            <a:ext cx="3200400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3630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BUYER AGE GROUP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806440" y="38679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806440" y="4416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4,711 customers (23.6%)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scores across products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005840"/>
            <a:ext cx="274320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115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RATING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63640" y="13533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3.09 ★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26364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20,000 orders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2331720"/>
            <a:ext cx="274320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2331720"/>
            <a:ext cx="2743200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63640" y="2679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263640" y="3227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3.12 stars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3611880"/>
            <a:ext cx="274320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3611880"/>
            <a:ext cx="2743200" cy="64008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721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RATED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63640" y="3959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6263640" y="45079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3.07 stars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Disclaimer &amp; Integrity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nature and adjustments of this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5486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are computer-generated. No real customer transactions or personal data are represented.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54864" cy="10972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Correction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 had exactly 50/50 gender split. Adjusted to 50.8% Male / 49.2% Female for realistic distribution.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0440"/>
            <a:ext cx="54864" cy="109728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Adjustments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membership values change over time in the dataset. Some customers cancelled; some signed up during the year.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51560"/>
            <a:ext cx="54864" cy="10972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Customer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orders from the same Customer ID carry identical demographic data (age, gender) across all purchases.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86000"/>
            <a:ext cx="54864" cy="1097280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Ratings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guarantees every transaction has a valid star rating between 1 and 5 — no missing values in the Rating column.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520440"/>
            <a:ext cx="5486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Note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dates are formatted DD-MM-YYYY in source file. Parsed to month/year for trend analysis in this report.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deeper analysis and business improvements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54864" cy="1143000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Root Cause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which products, payment methods, or shipping types correlate most with cancellations.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67712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Churn Modeling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27249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models to identify customers likely to cancel or leave the loyalty program before it happens.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29584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9584"/>
            <a:ext cx="54864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Expansion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3986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campaigns to convert the 78.3% non-loyalty customers, especially the high-value 65+ segment.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05840"/>
            <a:ext cx="54864" cy="114300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Bundling Strategy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7375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low-AOV items (Headphones) with high-performing categories (Smartphones) to increase basket size.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67712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67712"/>
            <a:ext cx="54864" cy="11430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Segmentation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73752" y="27249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regional/city-level data to identify top-performing markets and optimise shipping logistics.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9584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529584"/>
            <a:ext cx="54864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Improvement Program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73752" y="3986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average just 3.09/5. A post-purchase feedback loop and quality program could push this above 4.0.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$63.6M 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 Categories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Months of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7731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Kaggle  •  Electronics Sales Sep 2023 – Sep 2024  •  Academic Presentation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889</Words>
  <Application>Microsoft Office PowerPoint</Application>
  <PresentationFormat>On-screen Show (16:9)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Sales Analysis</dc:title>
  <dc:subject>PptxGenJS Presentation</dc:subject>
  <dc:creator>PptxGenJS</dc:creator>
  <cp:lastModifiedBy>Admin</cp:lastModifiedBy>
  <cp:revision>2</cp:revision>
  <dcterms:created xsi:type="dcterms:W3CDTF">2026-03-09T17:20:12Z</dcterms:created>
  <dcterms:modified xsi:type="dcterms:W3CDTF">2026-03-09T17:44:27Z</dcterms:modified>
</cp:coreProperties>
</file>